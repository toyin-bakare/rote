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60" r:id="rId4"/>
    <p:sldId id="261" r:id="rId5"/>
    <p:sldId id="262" r:id="rId6"/>
    <p:sldId id="263" r:id="rId7"/>
    <p:sldId id="264" r:id="rId8"/>
    <p:sldId id="265" r:id="rId9"/>
    <p:sldId id="266" r:id="rId10"/>
    <p:sldId id="269"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384" y="78"/>
      </p:cViewPr>
      <p:guideLst/>
    </p:cSldViewPr>
  </p:slideViewPr>
  <p:notesTextViewPr>
    <p:cViewPr>
      <p:scale>
        <a:sx n="1" d="1"/>
        <a:sy n="1" d="1"/>
      </p:scale>
      <p:origin x="0" y="0"/>
    </p:cViewPr>
  </p:notesTextViewPr>
  <p:notesViewPr>
    <p:cSldViewPr snapToGrid="0" snapToObjects="1">
      <p:cViewPr>
        <p:scale>
          <a:sx n="80" d="100"/>
          <a:sy n="80" d="100"/>
        </p:scale>
        <p:origin x="214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970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one line: many bank systems have no API, so an agent has to use the screen. Rote learns the task once with AI, then repeats it without AI. Then: the problem, why I built it this way, a live demo, what is weak, how I would scale it, how I would measure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box on this slide comes from section 1 of the brief. Headline quote: "the long tail of legacy applications that have no API at all … the only way in is to drive the UI the way a human operator would." The brief says the hard part is NOT constant change; it is the errors that happen at run time. "Regulated data" comes from section 3.4: allowlist, risky actions handled conservatively, never persist secrets or raw sensitive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band left to right, then the bottom band. Say once: the recipe is what the brief calls the capability artifact. Point at the pink loop: replay only, same live session.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early so nobody has to ask. The brief says mock the operator console and the desktop surface if needed, and not to build scaling infrastructure. The file and function for every bullet is in the prep doc.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line: two models wrote the requirements, a third reviewed them, and I read the brief first and found one that all three missed. Then framework first, code against the checklist, and a test gate to prove it. Claude sits OUTSIDE the product; say so. If the 29/32/3/1 numbers cannot be confirmed, drop them and say it without numbers. Tests: 36 behaviour + 7 structural = 43.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the requirement picks the browser tool, and the browser tool picks the language. Do not say "the best tool"; say "the best fit for this requirement". Python was a close second. Java works but needs the same definition written in three places. Details and likely questions are in the prep doc.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starts from a line in the brief. Row 1: the check "who holds control" and the click happen back to back inside one program, so nothing can get in between them. To scale you run many copies. Row 2: the test is tests/replay-boundary.test.ts. Row 3: stopping rules are max steps, a time limit, and the same screen plus same action repeating. Row 4: the cost of local OCR is accuracy; see the weak-spots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brief says these are where they will focus: the artifact schema, the error taxonomy, and the control-transfer model. Open capabilities/altoroj-challenge-account-balance/v2.json here (it has the eight known outcomes; the discovered v1 has none), or use the viewer's Recipes tab. Known limits are on the weak-spots slide; the rest is in the prep doc.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of these is a bug: everything runs and all 43 tests pass. These are places where the code does less than my report or the brief says. Naming them first sets the tone. File and line for each one is in the prep doc and the code map. The last row is the one the brief names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scaling something unsafe just makes more unsafe runs. Stage 2: my workers are not the limit; the core banking system’s session and rate limits are. These map to the brief’s stretch goals; say so. Details in the prep doc.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Correct is the one a bank cares about most: a run that succeeds with the wrong number is worse than a run that stops. The outcome mix is the cheapest early warning. Replay time from the dry run: about 10 seconds lease to result; the handoff run was 11 seconds including the operator click. Discovery cost: check the OpenAI usage page before quoting a number.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1198245"/>
            <a:ext cx="237744" cy="237744"/>
          </a:xfrm>
          <a:prstGeom prst="ellipse">
            <a:avLst/>
          </a:prstGeom>
          <a:solidFill>
            <a:srgbClr val="6025F1"/>
          </a:solidFill>
          <a:ln w="12700">
            <a:solidFill>
              <a:srgbClr val="6025F1"/>
            </a:solidFill>
            <a:prstDash val="solid"/>
          </a:ln>
        </p:spPr>
        <p:txBody>
          <a:bodyPr/>
          <a:lstStyle/>
          <a:p>
            <a:endParaRPr lang="en-US"/>
          </a:p>
        </p:txBody>
      </p:sp>
      <p:sp>
        <p:nvSpPr>
          <p:cNvPr id="3" name="Shape 1"/>
          <p:cNvSpPr/>
          <p:nvPr/>
        </p:nvSpPr>
        <p:spPr>
          <a:xfrm>
            <a:off x="1069848" y="1198245"/>
            <a:ext cx="237744" cy="237744"/>
          </a:xfrm>
          <a:prstGeom prst="ellipse">
            <a:avLst/>
          </a:prstGeom>
          <a:solidFill>
            <a:srgbClr val="189267"/>
          </a:solidFill>
          <a:ln w="12700">
            <a:solidFill>
              <a:srgbClr val="189267"/>
            </a:solidFill>
            <a:prstDash val="solid"/>
          </a:ln>
        </p:spPr>
        <p:txBody>
          <a:bodyPr/>
          <a:lstStyle/>
          <a:p>
            <a:endParaRPr lang="en-US"/>
          </a:p>
        </p:txBody>
      </p:sp>
      <p:sp>
        <p:nvSpPr>
          <p:cNvPr id="4" name="Shape 2"/>
          <p:cNvSpPr/>
          <p:nvPr/>
        </p:nvSpPr>
        <p:spPr>
          <a:xfrm>
            <a:off x="1453896" y="1198245"/>
            <a:ext cx="237744" cy="237744"/>
          </a:xfrm>
          <a:prstGeom prst="ellipse">
            <a:avLst/>
          </a:prstGeom>
          <a:solidFill>
            <a:srgbClr val="0163EC"/>
          </a:solidFill>
          <a:ln w="12700">
            <a:solidFill>
              <a:srgbClr val="0163EC"/>
            </a:solidFill>
            <a:prstDash val="solid"/>
          </a:ln>
        </p:spPr>
        <p:txBody>
          <a:bodyPr/>
          <a:lstStyle/>
          <a:p>
            <a:endParaRPr lang="en-US"/>
          </a:p>
        </p:txBody>
      </p:sp>
      <p:sp>
        <p:nvSpPr>
          <p:cNvPr id="5" name="Shape 3"/>
          <p:cNvSpPr/>
          <p:nvPr/>
        </p:nvSpPr>
        <p:spPr>
          <a:xfrm>
            <a:off x="1837944" y="1198245"/>
            <a:ext cx="237744" cy="237744"/>
          </a:xfrm>
          <a:prstGeom prst="ellipse">
            <a:avLst/>
          </a:prstGeom>
          <a:solidFill>
            <a:srgbClr val="F26A12"/>
          </a:solidFill>
          <a:ln w="12700">
            <a:solidFill>
              <a:srgbClr val="F26A12"/>
            </a:solidFill>
            <a:prstDash val="solid"/>
          </a:ln>
        </p:spPr>
        <p:txBody>
          <a:bodyPr/>
          <a:lstStyle/>
          <a:p>
            <a:endParaRPr lang="en-US"/>
          </a:p>
        </p:txBody>
      </p:sp>
      <p:sp>
        <p:nvSpPr>
          <p:cNvPr id="6" name="Shape 4"/>
          <p:cNvSpPr/>
          <p:nvPr/>
        </p:nvSpPr>
        <p:spPr>
          <a:xfrm>
            <a:off x="2221992" y="1198245"/>
            <a:ext cx="237744" cy="237744"/>
          </a:xfrm>
          <a:prstGeom prst="ellipse">
            <a:avLst/>
          </a:prstGeom>
          <a:solidFill>
            <a:srgbClr val="0E9AAE"/>
          </a:solidFill>
          <a:ln w="12700">
            <a:solidFill>
              <a:srgbClr val="0E9AAE"/>
            </a:solidFill>
            <a:prstDash val="solid"/>
          </a:ln>
        </p:spPr>
        <p:txBody>
          <a:bodyPr/>
          <a:lstStyle/>
          <a:p>
            <a:endParaRPr lang="en-US"/>
          </a:p>
        </p:txBody>
      </p:sp>
      <p:sp>
        <p:nvSpPr>
          <p:cNvPr id="7" name="Shape 5"/>
          <p:cNvSpPr/>
          <p:nvPr/>
        </p:nvSpPr>
        <p:spPr>
          <a:xfrm>
            <a:off x="2606040" y="1198245"/>
            <a:ext cx="237744" cy="237744"/>
          </a:xfrm>
          <a:prstGeom prst="ellipse">
            <a:avLst/>
          </a:prstGeom>
          <a:solidFill>
            <a:srgbClr val="D4077E"/>
          </a:solidFill>
          <a:ln w="12700">
            <a:solidFill>
              <a:srgbClr val="D4077E"/>
            </a:solidFill>
            <a:prstDash val="solid"/>
          </a:ln>
        </p:spPr>
        <p:txBody>
          <a:bodyPr/>
          <a:lstStyle/>
          <a:p>
            <a:endParaRPr lang="en-US"/>
          </a:p>
        </p:txBody>
      </p:sp>
      <p:sp>
        <p:nvSpPr>
          <p:cNvPr id="8" name="Text 6"/>
          <p:cNvSpPr txBox="1"/>
          <p:nvPr/>
        </p:nvSpPr>
        <p:spPr>
          <a:xfrm>
            <a:off x="685800" y="1655445"/>
            <a:ext cx="3505200" cy="274320"/>
          </a:xfrm>
          <a:prstGeom prst="rect">
            <a:avLst/>
          </a:prstGeom>
          <a:noFill/>
          <a:ln/>
        </p:spPr>
        <p:txBody>
          <a:bodyPr wrap="square" lIns="0" tIns="0" rIns="0" bIns="0" rtlCol="0" anchor="ctr"/>
          <a:lstStyle/>
          <a:p>
            <a:pPr marL="0" indent="0">
              <a:buNone/>
            </a:pPr>
            <a:r>
              <a:rPr lang="en-US" sz="1200" b="1" kern="0" spc="200" dirty="0">
                <a:solidFill>
                  <a:srgbClr val="6025F1"/>
                </a:solidFill>
                <a:latin typeface="Calibri" pitchFamily="34" charset="0"/>
                <a:ea typeface="Calibri" pitchFamily="34" charset="-122"/>
                <a:cs typeface="Calibri" pitchFamily="34" charset="-120"/>
              </a:rPr>
              <a:t>TAKE-HOME REVIEW · INTERFACE.AI</a:t>
            </a:r>
            <a:endParaRPr lang="en-US" sz="1200" dirty="0"/>
          </a:p>
        </p:txBody>
      </p:sp>
      <p:sp>
        <p:nvSpPr>
          <p:cNvPr id="9" name="Text 7"/>
          <p:cNvSpPr txBox="1"/>
          <p:nvPr/>
        </p:nvSpPr>
        <p:spPr>
          <a:xfrm>
            <a:off x="685800" y="1746885"/>
            <a:ext cx="2590800" cy="1005840"/>
          </a:xfrm>
          <a:prstGeom prst="rect">
            <a:avLst/>
          </a:prstGeom>
          <a:noFill/>
          <a:ln/>
        </p:spPr>
        <p:txBody>
          <a:bodyPr wrap="square" lIns="0" tIns="0" rIns="0" bIns="0" rtlCol="0" anchor="ctr"/>
          <a:lstStyle/>
          <a:p>
            <a:pPr marL="0" indent="0">
              <a:buNone/>
            </a:pPr>
            <a:r>
              <a:rPr lang="en-US" sz="6600" b="1" dirty="0">
                <a:solidFill>
                  <a:srgbClr val="031C5F"/>
                </a:solidFill>
                <a:latin typeface="Calibri" pitchFamily="34" charset="0"/>
                <a:ea typeface="Calibri" pitchFamily="34" charset="-122"/>
                <a:cs typeface="Calibri" pitchFamily="34" charset="-120"/>
              </a:rPr>
              <a:t>Rote</a:t>
            </a:r>
            <a:endParaRPr lang="en-US" sz="6600" dirty="0"/>
          </a:p>
        </p:txBody>
      </p:sp>
      <p:sp>
        <p:nvSpPr>
          <p:cNvPr id="10" name="Text 8"/>
          <p:cNvSpPr txBox="1"/>
          <p:nvPr/>
        </p:nvSpPr>
        <p:spPr>
          <a:xfrm>
            <a:off x="685800" y="4114800"/>
            <a:ext cx="3295650" cy="548640"/>
          </a:xfrm>
          <a:prstGeom prst="rect">
            <a:avLst/>
          </a:prstGeom>
          <a:noFill/>
          <a:ln/>
        </p:spPr>
        <p:txBody>
          <a:bodyPr wrap="square" lIns="0" tIns="0" rIns="0" bIns="0" rtlCol="0" anchor="ctr"/>
          <a:lstStyle/>
          <a:p>
            <a:pPr marL="0" indent="0">
              <a:buNone/>
            </a:pPr>
            <a:r>
              <a:rPr lang="en-US" sz="2000" dirty="0">
                <a:solidFill>
                  <a:srgbClr val="031C5F"/>
                </a:solidFill>
                <a:latin typeface="Calibri" pitchFamily="34" charset="0"/>
                <a:ea typeface="Calibri" pitchFamily="34" charset="-122"/>
                <a:cs typeface="Calibri" pitchFamily="34" charset="-120"/>
              </a:rPr>
              <a:t>Learn a task once. </a:t>
            </a:r>
          </a:p>
          <a:p>
            <a:pPr marL="0" indent="0">
              <a:buNone/>
            </a:pPr>
            <a:r>
              <a:rPr lang="en-US" sz="2000" dirty="0">
                <a:solidFill>
                  <a:srgbClr val="031C5F"/>
                </a:solidFill>
                <a:latin typeface="Calibri" pitchFamily="34" charset="0"/>
                <a:ea typeface="Calibri" pitchFamily="34" charset="-122"/>
                <a:cs typeface="Calibri" pitchFamily="34" charset="-120"/>
              </a:rPr>
              <a:t>Save the recipe. </a:t>
            </a:r>
          </a:p>
          <a:p>
            <a:pPr marL="0" indent="0">
              <a:buNone/>
            </a:pPr>
            <a:r>
              <a:rPr lang="en-US" sz="2000" dirty="0">
                <a:solidFill>
                  <a:srgbClr val="031C5F"/>
                </a:solidFill>
                <a:latin typeface="Calibri" pitchFamily="34" charset="0"/>
                <a:ea typeface="Calibri" pitchFamily="34" charset="-122"/>
                <a:cs typeface="Calibri" pitchFamily="34" charset="-120"/>
              </a:rPr>
              <a:t>Repeat it with checks.</a:t>
            </a:r>
            <a:endParaRPr lang="en-US" sz="2000" dirty="0"/>
          </a:p>
        </p:txBody>
      </p:sp>
      <p:sp>
        <p:nvSpPr>
          <p:cNvPr id="11" name="Text 9"/>
          <p:cNvSpPr txBox="1"/>
          <p:nvPr/>
        </p:nvSpPr>
        <p:spPr>
          <a:xfrm>
            <a:off x="685800" y="5120640"/>
            <a:ext cx="2333625" cy="365760"/>
          </a:xfrm>
          <a:prstGeom prst="rect">
            <a:avLst/>
          </a:prstGeom>
          <a:noFill/>
          <a:ln/>
        </p:spPr>
        <p:txBody>
          <a:bodyPr wrap="square" lIns="0" tIns="0" rIns="0" bIns="0" rtlCol="0" anchor="ctr"/>
          <a:lstStyle/>
          <a:p>
            <a:pPr marL="0" indent="0">
              <a:buNone/>
            </a:pPr>
            <a:r>
              <a:rPr lang="en-US" sz="1600" dirty="0">
                <a:solidFill>
                  <a:srgbClr val="5B6B82"/>
                </a:solidFill>
                <a:latin typeface="Calibri" pitchFamily="34" charset="0"/>
                <a:ea typeface="Calibri" pitchFamily="34" charset="-122"/>
                <a:cs typeface="Calibri" pitchFamily="34" charset="-120"/>
              </a:rPr>
              <a:t>Toyin Bakare</a:t>
            </a:r>
            <a:endParaRPr lang="en-US" sz="1600" dirty="0"/>
          </a:p>
        </p:txBody>
      </p:sp>
      <p:graphicFrame>
        <p:nvGraphicFramePr>
          <p:cNvPr id="13" name="Table 0">
            <a:extLst>
              <a:ext uri="{FF2B5EF4-FFF2-40B4-BE49-F238E27FC236}">
                <a16:creationId xmlns:a16="http://schemas.microsoft.com/office/drawing/2014/main" id="{2F9D4153-37C9-C547-17B3-0274030CFCDE}"/>
              </a:ext>
            </a:extLst>
          </p:cNvPr>
          <p:cNvGraphicFramePr>
            <a:graphicFrameLocks noGrp="1"/>
          </p:cNvGraphicFramePr>
          <p:nvPr>
            <p:extLst>
              <p:ext uri="{D42A27DB-BD31-4B8C-83A1-F6EECF244321}">
                <p14:modId xmlns:p14="http://schemas.microsoft.com/office/powerpoint/2010/main" val="2598271320"/>
              </p:ext>
            </p:extLst>
          </p:nvPr>
        </p:nvGraphicFramePr>
        <p:xfrm>
          <a:off x="6096000" y="1715427"/>
          <a:ext cx="5300661" cy="4657776"/>
        </p:xfrm>
        <a:graphic>
          <a:graphicData uri="http://schemas.openxmlformats.org/drawingml/2006/table">
            <a:tbl>
              <a:tblPr/>
              <a:tblGrid>
                <a:gridCol w="461838">
                  <a:extLst>
                    <a:ext uri="{9D8B030D-6E8A-4147-A177-3AD203B41FA5}">
                      <a16:colId xmlns:a16="http://schemas.microsoft.com/office/drawing/2014/main" val="20000"/>
                    </a:ext>
                  </a:extLst>
                </a:gridCol>
                <a:gridCol w="2761405">
                  <a:extLst>
                    <a:ext uri="{9D8B030D-6E8A-4147-A177-3AD203B41FA5}">
                      <a16:colId xmlns:a16="http://schemas.microsoft.com/office/drawing/2014/main" val="20001"/>
                    </a:ext>
                  </a:extLst>
                </a:gridCol>
                <a:gridCol w="2077418">
                  <a:extLst>
                    <a:ext uri="{9D8B030D-6E8A-4147-A177-3AD203B41FA5}">
                      <a16:colId xmlns:a16="http://schemas.microsoft.com/office/drawing/2014/main" val="20002"/>
                    </a:ext>
                  </a:extLst>
                </a:gridCol>
              </a:tblGrid>
              <a:tr h="487741">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The problem, my approach, what I built, and how I built it with AI</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4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Why I built it this way: designed per requirement</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4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Live demo and a walk through the capability file</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10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What is weak, and the fix for each</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4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How I would scale it</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4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4515">
                <a:tc>
                  <a:txBody>
                    <a:bodyPr/>
                    <a:lstStyle/>
                    <a:p>
                      <a:pPr marL="0" indent="0">
                        <a:buNone/>
                      </a:pPr>
                      <a:r>
                        <a:rPr lang="en-US" sz="1800" b="1" dirty="0">
                          <a:solidFill>
                            <a:srgbClr val="0B1F3F"/>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How I would measure it in production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800" dirty="0">
                          <a:solidFill>
                            <a:srgbClr val="0B1F3F"/>
                          </a:solidFill>
                          <a:latin typeface="Calibri" pitchFamily="34" charset="0"/>
                          <a:ea typeface="Calibri" pitchFamily="34" charset="-122"/>
                          <a:cs typeface="Calibri" pitchFamily="34" charset="-120"/>
                        </a:rPr>
                        <a:t>4 min</a:t>
                      </a:r>
                      <a:endParaRPr lang="en-US" sz="18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5" name="Text 0">
            <a:extLst>
              <a:ext uri="{FF2B5EF4-FFF2-40B4-BE49-F238E27FC236}">
                <a16:creationId xmlns:a16="http://schemas.microsoft.com/office/drawing/2014/main" id="{3E8148F3-C0F3-1CF6-A8E8-404DE81D4B42}"/>
              </a:ext>
            </a:extLst>
          </p:cNvPr>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6025F1"/>
                </a:solidFill>
                <a:latin typeface="Calibri" pitchFamily="34" charset="0"/>
                <a:ea typeface="Calibri" pitchFamily="34" charset="-122"/>
                <a:cs typeface="Calibri" pitchFamily="34" charset="-120"/>
              </a:rPr>
              <a:t>PLAN FOR TODAY</a:t>
            </a:r>
            <a:endParaRPr lang="en-US" sz="1100" dirty="0"/>
          </a:p>
        </p:txBody>
      </p:sp>
      <p:sp>
        <p:nvSpPr>
          <p:cNvPr id="17" name="Text 1">
            <a:extLst>
              <a:ext uri="{FF2B5EF4-FFF2-40B4-BE49-F238E27FC236}">
                <a16:creationId xmlns:a16="http://schemas.microsoft.com/office/drawing/2014/main" id="{1FF88923-33FC-A7F2-5E89-7D0FB0DB800F}"/>
              </a:ext>
            </a:extLst>
          </p:cNvPr>
          <p:cNvSpPr txBox="1"/>
          <p:nvPr/>
        </p:nvSpPr>
        <p:spPr>
          <a:xfrm>
            <a:off x="6096000" y="1075347"/>
            <a:ext cx="5543550" cy="640080"/>
          </a:xfrm>
          <a:prstGeom prst="rect">
            <a:avLst/>
          </a:prstGeom>
          <a:noFill/>
          <a:ln/>
        </p:spPr>
        <p:txBody>
          <a:bodyPr wrap="square" lIns="0" tIns="0" rIns="0" bIns="0" rtlCol="0" anchor="ctr"/>
          <a:lstStyle/>
          <a:p>
            <a:pPr marL="0" indent="0">
              <a:buNone/>
            </a:pPr>
            <a:r>
              <a:rPr lang="en-US" sz="2400" b="1" dirty="0">
                <a:solidFill>
                  <a:srgbClr val="031C5F"/>
                </a:solidFill>
                <a:latin typeface="Calibri" pitchFamily="34" charset="0"/>
                <a:ea typeface="Calibri" pitchFamily="34" charset="-122"/>
                <a:cs typeface="Calibri" pitchFamily="34" charset="-120"/>
              </a:rPr>
              <a:t>Six parts, about 30 mins, the rest for Q &amp; 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6025F1"/>
                </a:solidFill>
                <a:latin typeface="Calibri" pitchFamily="34" charset="0"/>
                <a:ea typeface="Calibri" pitchFamily="34" charset="-122"/>
                <a:cs typeface="Calibri" pitchFamily="34" charset="-120"/>
              </a:rPr>
              <a:t>PART 1 · PROBLEM AND APPROACH</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Many bank systems have no API. The screen is the only way in.</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1 · Problem and approach</a:t>
            </a:r>
            <a:endParaRPr lang="en-US" sz="1000" dirty="0"/>
          </a:p>
        </p:txBody>
      </p:sp>
      <p:sp>
        <p:nvSpPr>
          <p:cNvPr id="7" name="Text 4"/>
          <p:cNvSpPr txBox="1"/>
          <p:nvPr/>
        </p:nvSpPr>
        <p:spPr>
          <a:xfrm>
            <a:off x="685800" y="1371600"/>
            <a:ext cx="10820095" cy="457200"/>
          </a:xfrm>
          <a:prstGeom prst="rect">
            <a:avLst/>
          </a:prstGeom>
          <a:noFill/>
          <a:ln/>
        </p:spPr>
        <p:txBody>
          <a:bodyPr wrap="square" lIns="0" tIns="0" rIns="0" bIns="0" rtlCol="0" anchor="ctr"/>
          <a:lstStyle/>
          <a:p>
            <a:pPr marL="0" indent="0">
              <a:buNone/>
            </a:pPr>
            <a:r>
              <a:rPr lang="en-US" sz="1800" i="1" dirty="0">
                <a:solidFill>
                  <a:srgbClr val="0B1F3F"/>
                </a:solidFill>
                <a:latin typeface="Calibri" pitchFamily="34" charset="0"/>
                <a:ea typeface="Calibri" pitchFamily="34" charset="-122"/>
                <a:cs typeface="Calibri" pitchFamily="34" charset="-120"/>
              </a:rPr>
              <a:t>From the brief: “the only way in is to drive the UI the way a human operator would.”</a:t>
            </a:r>
            <a:endParaRPr lang="en-US" sz="1800" dirty="0"/>
          </a:p>
        </p:txBody>
      </p:sp>
      <p:sp>
        <p:nvSpPr>
          <p:cNvPr id="8" name="Shape 5"/>
          <p:cNvSpPr/>
          <p:nvPr/>
        </p:nvSpPr>
        <p:spPr>
          <a:xfrm>
            <a:off x="685800" y="2011680"/>
            <a:ext cx="5272888" cy="2011680"/>
          </a:xfrm>
          <a:prstGeom prst="roundRect">
            <a:avLst>
              <a:gd name="adj" fmla="val 3636"/>
            </a:avLst>
          </a:prstGeom>
          <a:solidFill>
            <a:srgbClr val="FFFFFF"/>
          </a:solidFill>
          <a:ln w="15875">
            <a:solidFill>
              <a:srgbClr val="F26A12"/>
            </a:solidFill>
            <a:prstDash val="solid"/>
          </a:ln>
        </p:spPr>
        <p:txBody>
          <a:bodyPr/>
          <a:lstStyle/>
          <a:p>
            <a:endParaRPr lang="en-US"/>
          </a:p>
        </p:txBody>
      </p:sp>
      <p:sp>
        <p:nvSpPr>
          <p:cNvPr id="9" name="Shape 6"/>
          <p:cNvSpPr/>
          <p:nvPr/>
        </p:nvSpPr>
        <p:spPr>
          <a:xfrm>
            <a:off x="685800" y="2011680"/>
            <a:ext cx="5272888" cy="457200"/>
          </a:xfrm>
          <a:prstGeom prst="roundRect">
            <a:avLst>
              <a:gd name="adj" fmla="val 16000"/>
            </a:avLst>
          </a:prstGeom>
          <a:solidFill>
            <a:srgbClr val="F26A12"/>
          </a:solidFill>
          <a:ln w="15875">
            <a:solidFill>
              <a:srgbClr val="F26A12"/>
            </a:solidFill>
            <a:prstDash val="solid"/>
          </a:ln>
        </p:spPr>
        <p:txBody>
          <a:bodyPr/>
          <a:lstStyle/>
          <a:p>
            <a:endParaRPr lang="en-US"/>
          </a:p>
        </p:txBody>
      </p:sp>
      <p:sp>
        <p:nvSpPr>
          <p:cNvPr id="10" name="Shape 7"/>
          <p:cNvSpPr/>
          <p:nvPr/>
        </p:nvSpPr>
        <p:spPr>
          <a:xfrm>
            <a:off x="685800" y="2240280"/>
            <a:ext cx="5272888" cy="228600"/>
          </a:xfrm>
          <a:prstGeom prst="rect">
            <a:avLst/>
          </a:prstGeom>
          <a:solidFill>
            <a:srgbClr val="F26A12"/>
          </a:solidFill>
          <a:ln w="15875">
            <a:solidFill>
              <a:srgbClr val="F26A12"/>
            </a:solidFill>
            <a:prstDash val="solid"/>
          </a:ln>
        </p:spPr>
        <p:txBody>
          <a:bodyPr/>
          <a:lstStyle/>
          <a:p>
            <a:endParaRPr lang="en-US"/>
          </a:p>
        </p:txBody>
      </p:sp>
      <p:sp>
        <p:nvSpPr>
          <p:cNvPr id="11" name="Text 8"/>
          <p:cNvSpPr txBox="1"/>
          <p:nvPr/>
        </p:nvSpPr>
        <p:spPr>
          <a:xfrm>
            <a:off x="868680" y="201168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Stable screens, real runtime errors</a:t>
            </a:r>
            <a:endParaRPr lang="en-US" sz="1500" dirty="0"/>
          </a:p>
        </p:txBody>
      </p:sp>
      <p:sp>
        <p:nvSpPr>
          <p:cNvPr id="12" name="Text 9"/>
          <p:cNvSpPr txBox="1"/>
          <p:nvPr/>
        </p:nvSpPr>
        <p:spPr>
          <a:xfrm>
            <a:off x="886968" y="2596896"/>
            <a:ext cx="4870552" cy="1426464"/>
          </a:xfrm>
          <a:prstGeom prst="rect">
            <a:avLst/>
          </a:prstGeom>
          <a:noFill/>
          <a:ln/>
        </p:spPr>
        <p:txBody>
          <a:bodyPr wrap="square" lIns="0" tIns="0" rIns="0" bIns="0" rtlCol="0" anchor="t"/>
          <a:lstStyle/>
          <a:p>
            <a:pPr marL="342900" lvl="0" indent="-342900">
              <a:buFont typeface="Arial" panose="020B0604020202020204" pitchFamily="34" charset="0"/>
              <a:buChar char="•"/>
            </a:pPr>
            <a:r>
              <a:rPr lang="en-US" sz="1600" dirty="0"/>
              <a:t>UI is rarely redesigned</a:t>
            </a:r>
          </a:p>
          <a:p>
            <a:pPr marL="342900" lvl="0" indent="-342900">
              <a:buFont typeface="Arial" panose="020B0604020202020204" pitchFamily="34" charset="0"/>
              <a:buChar char="•"/>
            </a:pPr>
            <a:endParaRPr lang="en-US" sz="1600" dirty="0"/>
          </a:p>
          <a:p>
            <a:pPr marL="342900" lvl="0" indent="-342900">
              <a:buFont typeface="Arial" panose="020B0604020202020204" pitchFamily="34" charset="0"/>
              <a:buChar char="•"/>
            </a:pPr>
            <a:r>
              <a:rPr lang="en-US" sz="1600" dirty="0"/>
              <a:t>The hard part is what happens while a task runs</a:t>
            </a:r>
          </a:p>
          <a:p>
            <a:pPr marL="800100" lvl="1" indent="-342900">
              <a:buFont typeface="Arial" panose="020B0604020202020204" pitchFamily="34" charset="0"/>
              <a:buChar char="•"/>
            </a:pPr>
            <a:r>
              <a:rPr lang="en-US" sz="1400" dirty="0"/>
              <a:t>Validation errors, record not found, permission denied</a:t>
            </a:r>
          </a:p>
          <a:p>
            <a:pPr marL="800100" lvl="1" indent="-342900">
              <a:buFont typeface="Arial" panose="020B0604020202020204" pitchFamily="34" charset="0"/>
              <a:buChar char="•"/>
            </a:pPr>
            <a:r>
              <a:rPr lang="en-US" sz="1400" dirty="0"/>
              <a:t>Surprise dialogs, session timeouts, slow or failed loads</a:t>
            </a:r>
          </a:p>
        </p:txBody>
      </p:sp>
      <p:sp>
        <p:nvSpPr>
          <p:cNvPr id="13" name="Shape 10"/>
          <p:cNvSpPr/>
          <p:nvPr/>
        </p:nvSpPr>
        <p:spPr>
          <a:xfrm>
            <a:off x="6233008" y="2011680"/>
            <a:ext cx="5272888" cy="2011680"/>
          </a:xfrm>
          <a:prstGeom prst="roundRect">
            <a:avLst>
              <a:gd name="adj" fmla="val 3636"/>
            </a:avLst>
          </a:prstGeom>
          <a:solidFill>
            <a:srgbClr val="FFFFFF"/>
          </a:solidFill>
          <a:ln w="15875">
            <a:solidFill>
              <a:srgbClr val="6025F1"/>
            </a:solidFill>
            <a:prstDash val="solid"/>
          </a:ln>
        </p:spPr>
        <p:txBody>
          <a:bodyPr/>
          <a:lstStyle/>
          <a:p>
            <a:endParaRPr lang="en-US"/>
          </a:p>
        </p:txBody>
      </p:sp>
      <p:sp>
        <p:nvSpPr>
          <p:cNvPr id="14" name="Shape 11"/>
          <p:cNvSpPr/>
          <p:nvPr/>
        </p:nvSpPr>
        <p:spPr>
          <a:xfrm>
            <a:off x="6233008" y="2011680"/>
            <a:ext cx="5272888" cy="457200"/>
          </a:xfrm>
          <a:prstGeom prst="roundRect">
            <a:avLst>
              <a:gd name="adj" fmla="val 16000"/>
            </a:avLst>
          </a:prstGeom>
          <a:solidFill>
            <a:srgbClr val="6025F1"/>
          </a:solidFill>
          <a:ln w="15875">
            <a:solidFill>
              <a:srgbClr val="6025F1"/>
            </a:solidFill>
            <a:prstDash val="solid"/>
          </a:ln>
        </p:spPr>
        <p:txBody>
          <a:bodyPr/>
          <a:lstStyle/>
          <a:p>
            <a:endParaRPr lang="en-US"/>
          </a:p>
        </p:txBody>
      </p:sp>
      <p:sp>
        <p:nvSpPr>
          <p:cNvPr id="15" name="Shape 12"/>
          <p:cNvSpPr/>
          <p:nvPr/>
        </p:nvSpPr>
        <p:spPr>
          <a:xfrm>
            <a:off x="6233008" y="2240280"/>
            <a:ext cx="5272888" cy="228600"/>
          </a:xfrm>
          <a:prstGeom prst="rect">
            <a:avLst/>
          </a:prstGeom>
          <a:solidFill>
            <a:srgbClr val="6025F1"/>
          </a:solidFill>
          <a:ln w="15875">
            <a:solidFill>
              <a:srgbClr val="6025F1"/>
            </a:solidFill>
            <a:prstDash val="solid"/>
          </a:ln>
        </p:spPr>
        <p:txBody>
          <a:bodyPr/>
          <a:lstStyle/>
          <a:p>
            <a:endParaRPr lang="en-US"/>
          </a:p>
        </p:txBody>
      </p:sp>
      <p:sp>
        <p:nvSpPr>
          <p:cNvPr id="16" name="Text 13"/>
          <p:cNvSpPr txBox="1"/>
          <p:nvPr/>
        </p:nvSpPr>
        <p:spPr>
          <a:xfrm>
            <a:off x="6415888" y="201168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Old screens</a:t>
            </a:r>
            <a:endParaRPr lang="en-US" sz="1500" dirty="0"/>
          </a:p>
        </p:txBody>
      </p:sp>
      <p:sp>
        <p:nvSpPr>
          <p:cNvPr id="17" name="Text 14"/>
          <p:cNvSpPr txBox="1"/>
          <p:nvPr/>
        </p:nvSpPr>
        <p:spPr>
          <a:xfrm>
            <a:off x="6434176" y="2596896"/>
            <a:ext cx="4870552" cy="1335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Server-rendered pages, framesets and iframes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Deeply nested tables, markup with no meaning</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No test IDs; sometimes a desktop app</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No clean DOM, no stable selectors, no API</a:t>
            </a:r>
            <a:endParaRPr lang="en-US" sz="1500" dirty="0"/>
          </a:p>
        </p:txBody>
      </p:sp>
      <p:sp>
        <p:nvSpPr>
          <p:cNvPr id="18" name="Shape 15"/>
          <p:cNvSpPr/>
          <p:nvPr/>
        </p:nvSpPr>
        <p:spPr>
          <a:xfrm>
            <a:off x="685800" y="4206240"/>
            <a:ext cx="5272888" cy="2011680"/>
          </a:xfrm>
          <a:prstGeom prst="roundRect">
            <a:avLst>
              <a:gd name="adj" fmla="val 3636"/>
            </a:avLst>
          </a:prstGeom>
          <a:solidFill>
            <a:srgbClr val="FFFFFF"/>
          </a:solidFill>
          <a:ln w="15875">
            <a:solidFill>
              <a:srgbClr val="189267"/>
            </a:solidFill>
            <a:prstDash val="solid"/>
          </a:ln>
        </p:spPr>
        <p:txBody>
          <a:bodyPr/>
          <a:lstStyle/>
          <a:p>
            <a:endParaRPr lang="en-US"/>
          </a:p>
        </p:txBody>
      </p:sp>
      <p:sp>
        <p:nvSpPr>
          <p:cNvPr id="19" name="Shape 16"/>
          <p:cNvSpPr/>
          <p:nvPr/>
        </p:nvSpPr>
        <p:spPr>
          <a:xfrm>
            <a:off x="685800" y="4206240"/>
            <a:ext cx="5272888" cy="457200"/>
          </a:xfrm>
          <a:prstGeom prst="roundRect">
            <a:avLst>
              <a:gd name="adj" fmla="val 16000"/>
            </a:avLst>
          </a:prstGeom>
          <a:solidFill>
            <a:srgbClr val="189267"/>
          </a:solidFill>
          <a:ln w="15875">
            <a:solidFill>
              <a:srgbClr val="189267"/>
            </a:solidFill>
            <a:prstDash val="solid"/>
          </a:ln>
        </p:spPr>
        <p:txBody>
          <a:bodyPr/>
          <a:lstStyle/>
          <a:p>
            <a:endParaRPr lang="en-US"/>
          </a:p>
        </p:txBody>
      </p:sp>
      <p:sp>
        <p:nvSpPr>
          <p:cNvPr id="20" name="Shape 17"/>
          <p:cNvSpPr/>
          <p:nvPr/>
        </p:nvSpPr>
        <p:spPr>
          <a:xfrm>
            <a:off x="685800" y="4434840"/>
            <a:ext cx="5272888" cy="228600"/>
          </a:xfrm>
          <a:prstGeom prst="rect">
            <a:avLst/>
          </a:prstGeom>
          <a:solidFill>
            <a:srgbClr val="189267"/>
          </a:solidFill>
          <a:ln w="15875">
            <a:solidFill>
              <a:srgbClr val="189267"/>
            </a:solidFill>
            <a:prstDash val="solid"/>
          </a:ln>
        </p:spPr>
        <p:txBody>
          <a:bodyPr/>
          <a:lstStyle/>
          <a:p>
            <a:endParaRPr lang="en-US"/>
          </a:p>
        </p:txBody>
      </p:sp>
      <p:sp>
        <p:nvSpPr>
          <p:cNvPr id="21" name="Text 18"/>
          <p:cNvSpPr txBox="1"/>
          <p:nvPr/>
        </p:nvSpPr>
        <p:spPr>
          <a:xfrm>
            <a:off x="868680" y="420624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Many tenants</a:t>
            </a:r>
            <a:endParaRPr lang="en-US" sz="1500" dirty="0"/>
          </a:p>
        </p:txBody>
      </p:sp>
      <p:sp>
        <p:nvSpPr>
          <p:cNvPr id="22" name="Text 19"/>
          <p:cNvSpPr txBox="1"/>
          <p:nvPr/>
        </p:nvSpPr>
        <p:spPr>
          <a:xfrm>
            <a:off x="886968" y="4791456"/>
            <a:ext cx="4870552" cy="1335024"/>
          </a:xfrm>
          <a:prstGeom prst="rect">
            <a:avLst/>
          </a:prstGeom>
          <a:noFill/>
          <a:ln/>
        </p:spPr>
        <p:txBody>
          <a:bodyPr wrap="square" lIns="0" tIns="0" rIns="0" bIns="0" rtlCol="0" anchor="t"/>
          <a:lstStyle/>
          <a:p>
            <a:pPr marL="342900" lvl="0" indent="-342900">
              <a:buFont typeface="Arial" panose="020B0604020202020204" pitchFamily="34" charset="0"/>
              <a:buChar char="•"/>
            </a:pPr>
            <a:r>
              <a:rPr lang="en-US" sz="1600" dirty="0"/>
              <a:t>Hundreds of institutions, about 20 apps each</a:t>
            </a:r>
          </a:p>
          <a:p>
            <a:pPr marL="342900" lvl="0" indent="-342900">
              <a:buFont typeface="Arial" panose="020B0604020202020204" pitchFamily="34" charset="0"/>
              <a:buChar char="•"/>
            </a:pPr>
            <a:r>
              <a:rPr lang="en-US" sz="1600" dirty="0"/>
              <a:t>Thousands of app instances</a:t>
            </a:r>
          </a:p>
          <a:p>
            <a:pPr marL="342900" lvl="0" indent="-342900">
              <a:buFont typeface="Arial" panose="020B0604020202020204" pitchFamily="34" charset="0"/>
              <a:buChar char="•"/>
            </a:pPr>
            <a:r>
              <a:rPr lang="en-US" sz="1600" dirty="0"/>
              <a:t>Same vendor product, set up and versioned differently</a:t>
            </a:r>
          </a:p>
          <a:p>
            <a:pPr marL="342900" lvl="0" indent="-342900">
              <a:buFont typeface="Arial" panose="020B0604020202020204" pitchFamily="34" charset="0"/>
              <a:buChar char="•"/>
            </a:pPr>
            <a:r>
              <a:rPr lang="en-US" sz="1600" dirty="0"/>
              <a:t>One recipe, tuned per tenant, not rebuilt</a:t>
            </a:r>
          </a:p>
        </p:txBody>
      </p:sp>
      <p:sp>
        <p:nvSpPr>
          <p:cNvPr id="23" name="Shape 20"/>
          <p:cNvSpPr/>
          <p:nvPr/>
        </p:nvSpPr>
        <p:spPr>
          <a:xfrm>
            <a:off x="6233008" y="4206240"/>
            <a:ext cx="5272888" cy="2011680"/>
          </a:xfrm>
          <a:prstGeom prst="roundRect">
            <a:avLst>
              <a:gd name="adj" fmla="val 3636"/>
            </a:avLst>
          </a:prstGeom>
          <a:solidFill>
            <a:srgbClr val="FFFFFF"/>
          </a:solidFill>
          <a:ln w="15875">
            <a:solidFill>
              <a:srgbClr val="D4077E"/>
            </a:solidFill>
            <a:prstDash val="solid"/>
          </a:ln>
        </p:spPr>
        <p:txBody>
          <a:bodyPr/>
          <a:lstStyle/>
          <a:p>
            <a:endParaRPr lang="en-US"/>
          </a:p>
        </p:txBody>
      </p:sp>
      <p:sp>
        <p:nvSpPr>
          <p:cNvPr id="24" name="Shape 21"/>
          <p:cNvSpPr/>
          <p:nvPr/>
        </p:nvSpPr>
        <p:spPr>
          <a:xfrm>
            <a:off x="6233008" y="4206240"/>
            <a:ext cx="5272888" cy="457200"/>
          </a:xfrm>
          <a:prstGeom prst="roundRect">
            <a:avLst>
              <a:gd name="adj" fmla="val 16000"/>
            </a:avLst>
          </a:prstGeom>
          <a:solidFill>
            <a:srgbClr val="D4077E"/>
          </a:solidFill>
          <a:ln w="15875">
            <a:solidFill>
              <a:srgbClr val="D4077E"/>
            </a:solidFill>
            <a:prstDash val="solid"/>
          </a:ln>
        </p:spPr>
        <p:txBody>
          <a:bodyPr/>
          <a:lstStyle/>
          <a:p>
            <a:endParaRPr lang="en-US"/>
          </a:p>
        </p:txBody>
      </p:sp>
      <p:sp>
        <p:nvSpPr>
          <p:cNvPr id="25" name="Shape 22"/>
          <p:cNvSpPr/>
          <p:nvPr/>
        </p:nvSpPr>
        <p:spPr>
          <a:xfrm>
            <a:off x="6233008" y="4434840"/>
            <a:ext cx="5272888" cy="228600"/>
          </a:xfrm>
          <a:prstGeom prst="rect">
            <a:avLst/>
          </a:prstGeom>
          <a:solidFill>
            <a:srgbClr val="D4077E"/>
          </a:solidFill>
          <a:ln w="15875">
            <a:solidFill>
              <a:srgbClr val="D4077E"/>
            </a:solidFill>
            <a:prstDash val="solid"/>
          </a:ln>
        </p:spPr>
        <p:txBody>
          <a:bodyPr/>
          <a:lstStyle/>
          <a:p>
            <a:endParaRPr lang="en-US"/>
          </a:p>
        </p:txBody>
      </p:sp>
      <p:sp>
        <p:nvSpPr>
          <p:cNvPr id="26" name="Text 23"/>
          <p:cNvSpPr txBox="1"/>
          <p:nvPr/>
        </p:nvSpPr>
        <p:spPr>
          <a:xfrm>
            <a:off x="6415888" y="420624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Regulated data</a:t>
            </a:r>
            <a:endParaRPr lang="en-US" sz="1500" dirty="0"/>
          </a:p>
        </p:txBody>
      </p:sp>
      <p:sp>
        <p:nvSpPr>
          <p:cNvPr id="27" name="Text 24"/>
          <p:cNvSpPr txBox="1"/>
          <p:nvPr/>
        </p:nvSpPr>
        <p:spPr>
          <a:xfrm>
            <a:off x="6434176" y="4791456"/>
            <a:ext cx="4870552" cy="1335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An allowlist of what the agent may do</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Risky or irreversible actions handled with care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No secrets or raw sensitive data in artifacts or logs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Rote, the whole story: learn a task once, save the recipe, repeat it with checks"/>
          <p:cNvPicPr>
            <a:picLocks noChangeAspect="1"/>
          </p:cNvPicPr>
          <p:nvPr/>
        </p:nvPicPr>
        <p:blipFill>
          <a:blip r:embed="rId3"/>
          <a:stretch>
            <a:fillRect/>
          </a:stretch>
        </p:blipFill>
        <p:spPr>
          <a:xfrm>
            <a:off x="246797" y="137160"/>
            <a:ext cx="11698101" cy="6583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6025F1"/>
                </a:solidFill>
                <a:latin typeface="Calibri" pitchFamily="34" charset="0"/>
                <a:ea typeface="Calibri" pitchFamily="34" charset="-122"/>
                <a:cs typeface="Calibri" pitchFamily="34" charset="-120"/>
              </a:rPr>
              <a:t>PART 1 · PROBLEM AND APPROACH</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What I built, what I simulated, what I only designed</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1 · Problem and approach</a:t>
            </a:r>
            <a:endParaRPr lang="en-US" sz="1000" dirty="0"/>
          </a:p>
        </p:txBody>
      </p:sp>
      <p:sp>
        <p:nvSpPr>
          <p:cNvPr id="7" name="Shape 4"/>
          <p:cNvSpPr/>
          <p:nvPr/>
        </p:nvSpPr>
        <p:spPr>
          <a:xfrm>
            <a:off x="685800" y="1645920"/>
            <a:ext cx="3423818" cy="4297680"/>
          </a:xfrm>
          <a:prstGeom prst="roundRect">
            <a:avLst>
              <a:gd name="adj" fmla="val 2137"/>
            </a:avLst>
          </a:prstGeom>
          <a:solidFill>
            <a:srgbClr val="FFFFFF"/>
          </a:solidFill>
          <a:ln w="15875">
            <a:solidFill>
              <a:srgbClr val="189267"/>
            </a:solidFill>
            <a:prstDash val="solid"/>
          </a:ln>
        </p:spPr>
        <p:txBody>
          <a:bodyPr/>
          <a:lstStyle/>
          <a:p>
            <a:endParaRPr lang="en-US"/>
          </a:p>
        </p:txBody>
      </p:sp>
      <p:sp>
        <p:nvSpPr>
          <p:cNvPr id="8" name="Shape 5"/>
          <p:cNvSpPr/>
          <p:nvPr/>
        </p:nvSpPr>
        <p:spPr>
          <a:xfrm>
            <a:off x="685800" y="1645920"/>
            <a:ext cx="3423818" cy="457200"/>
          </a:xfrm>
          <a:prstGeom prst="roundRect">
            <a:avLst>
              <a:gd name="adj" fmla="val 16000"/>
            </a:avLst>
          </a:prstGeom>
          <a:solidFill>
            <a:srgbClr val="189267"/>
          </a:solidFill>
          <a:ln w="15875">
            <a:solidFill>
              <a:srgbClr val="189267"/>
            </a:solidFill>
            <a:prstDash val="solid"/>
          </a:ln>
        </p:spPr>
        <p:txBody>
          <a:bodyPr/>
          <a:lstStyle/>
          <a:p>
            <a:endParaRPr lang="en-US"/>
          </a:p>
        </p:txBody>
      </p:sp>
      <p:sp>
        <p:nvSpPr>
          <p:cNvPr id="9" name="Shape 6"/>
          <p:cNvSpPr/>
          <p:nvPr/>
        </p:nvSpPr>
        <p:spPr>
          <a:xfrm>
            <a:off x="685800" y="1874520"/>
            <a:ext cx="3423818" cy="228600"/>
          </a:xfrm>
          <a:prstGeom prst="rect">
            <a:avLst/>
          </a:prstGeom>
          <a:solidFill>
            <a:srgbClr val="189267"/>
          </a:solidFill>
          <a:ln w="15875">
            <a:solidFill>
              <a:srgbClr val="189267"/>
            </a:solidFill>
            <a:prstDash val="solid"/>
          </a:ln>
        </p:spPr>
        <p:txBody>
          <a:bodyPr/>
          <a:lstStyle/>
          <a:p>
            <a:endParaRPr lang="en-US"/>
          </a:p>
        </p:txBody>
      </p:sp>
      <p:sp>
        <p:nvSpPr>
          <p:cNvPr id="10" name="Text 7"/>
          <p:cNvSpPr txBox="1"/>
          <p:nvPr/>
        </p:nvSpPr>
        <p:spPr>
          <a:xfrm>
            <a:off x="868680" y="1645920"/>
            <a:ext cx="305805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Built and working</a:t>
            </a:r>
            <a:endParaRPr lang="en-US" sz="1500" dirty="0"/>
          </a:p>
        </p:txBody>
      </p:sp>
      <p:sp>
        <p:nvSpPr>
          <p:cNvPr id="11" name="Text 8"/>
          <p:cNvSpPr txBox="1"/>
          <p:nvPr/>
        </p:nvSpPr>
        <p:spPr>
          <a:xfrm>
            <a:off x="886968" y="2231136"/>
            <a:ext cx="3021482" cy="3621024"/>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AI discovery loop</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Capability file with checks</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Replay with no AI</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Local OCR for the canvas balance</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Safety gate and policy file</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Human handoff in the same session</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Failure evidence on every blocked run</a:t>
            </a:r>
            <a:endParaRPr lang="en-US" sz="1800" dirty="0"/>
          </a:p>
        </p:txBody>
      </p:sp>
      <p:sp>
        <p:nvSpPr>
          <p:cNvPr id="12" name="Shape 9"/>
          <p:cNvSpPr/>
          <p:nvPr/>
        </p:nvSpPr>
        <p:spPr>
          <a:xfrm>
            <a:off x="4383938" y="1645920"/>
            <a:ext cx="3423818" cy="4297680"/>
          </a:xfrm>
          <a:prstGeom prst="roundRect">
            <a:avLst>
              <a:gd name="adj" fmla="val 2137"/>
            </a:avLst>
          </a:prstGeom>
          <a:solidFill>
            <a:srgbClr val="FFFFFF"/>
          </a:solidFill>
          <a:ln w="15875">
            <a:solidFill>
              <a:srgbClr val="F26A12"/>
            </a:solidFill>
            <a:prstDash val="solid"/>
          </a:ln>
        </p:spPr>
        <p:txBody>
          <a:bodyPr/>
          <a:lstStyle/>
          <a:p>
            <a:endParaRPr lang="en-US"/>
          </a:p>
        </p:txBody>
      </p:sp>
      <p:sp>
        <p:nvSpPr>
          <p:cNvPr id="13" name="Shape 10"/>
          <p:cNvSpPr/>
          <p:nvPr/>
        </p:nvSpPr>
        <p:spPr>
          <a:xfrm>
            <a:off x="4383938" y="1645920"/>
            <a:ext cx="3423818" cy="457200"/>
          </a:xfrm>
          <a:prstGeom prst="roundRect">
            <a:avLst>
              <a:gd name="adj" fmla="val 16000"/>
            </a:avLst>
          </a:prstGeom>
          <a:solidFill>
            <a:srgbClr val="F26A12"/>
          </a:solidFill>
          <a:ln w="15875">
            <a:solidFill>
              <a:srgbClr val="F26A12"/>
            </a:solidFill>
            <a:prstDash val="solid"/>
          </a:ln>
        </p:spPr>
        <p:txBody>
          <a:bodyPr/>
          <a:lstStyle/>
          <a:p>
            <a:endParaRPr lang="en-US"/>
          </a:p>
        </p:txBody>
      </p:sp>
      <p:sp>
        <p:nvSpPr>
          <p:cNvPr id="14" name="Shape 11"/>
          <p:cNvSpPr/>
          <p:nvPr/>
        </p:nvSpPr>
        <p:spPr>
          <a:xfrm>
            <a:off x="4383938" y="1874520"/>
            <a:ext cx="3423818" cy="228600"/>
          </a:xfrm>
          <a:prstGeom prst="rect">
            <a:avLst/>
          </a:prstGeom>
          <a:solidFill>
            <a:srgbClr val="F26A12"/>
          </a:solidFill>
          <a:ln w="15875">
            <a:solidFill>
              <a:srgbClr val="F26A12"/>
            </a:solidFill>
            <a:prstDash val="solid"/>
          </a:ln>
        </p:spPr>
        <p:txBody>
          <a:bodyPr/>
          <a:lstStyle/>
          <a:p>
            <a:endParaRPr lang="en-US"/>
          </a:p>
        </p:txBody>
      </p:sp>
      <p:sp>
        <p:nvSpPr>
          <p:cNvPr id="15" name="Text 12"/>
          <p:cNvSpPr txBox="1"/>
          <p:nvPr/>
        </p:nvSpPr>
        <p:spPr>
          <a:xfrm>
            <a:off x="4566818" y="1645920"/>
            <a:ext cx="305805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Simulated on purpose</a:t>
            </a:r>
            <a:endParaRPr lang="en-US" sz="1500" dirty="0"/>
          </a:p>
        </p:txBody>
      </p:sp>
      <p:sp>
        <p:nvSpPr>
          <p:cNvPr id="16" name="Text 13"/>
          <p:cNvSpPr txBox="1"/>
          <p:nvPr/>
        </p:nvSpPr>
        <p:spPr>
          <a:xfrm>
            <a:off x="4585106" y="2231136"/>
            <a:ext cx="3021482" cy="3621024"/>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The operator console is one button</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Error states come from test records, so they repeat offline</a:t>
            </a:r>
            <a:endParaRPr lang="en-US" sz="1800" dirty="0"/>
          </a:p>
        </p:txBody>
      </p:sp>
      <p:sp>
        <p:nvSpPr>
          <p:cNvPr id="17" name="Shape 14"/>
          <p:cNvSpPr/>
          <p:nvPr/>
        </p:nvSpPr>
        <p:spPr>
          <a:xfrm>
            <a:off x="8082077" y="1645920"/>
            <a:ext cx="3423818" cy="4297680"/>
          </a:xfrm>
          <a:prstGeom prst="roundRect">
            <a:avLst>
              <a:gd name="adj" fmla="val 2137"/>
            </a:avLst>
          </a:prstGeom>
          <a:solidFill>
            <a:srgbClr val="FFFFFF"/>
          </a:solidFill>
          <a:ln w="15875">
            <a:solidFill>
              <a:srgbClr val="6025F1"/>
            </a:solidFill>
            <a:prstDash val="solid"/>
          </a:ln>
        </p:spPr>
        <p:txBody>
          <a:bodyPr/>
          <a:lstStyle/>
          <a:p>
            <a:endParaRPr lang="en-US"/>
          </a:p>
        </p:txBody>
      </p:sp>
      <p:sp>
        <p:nvSpPr>
          <p:cNvPr id="18" name="Shape 15"/>
          <p:cNvSpPr/>
          <p:nvPr/>
        </p:nvSpPr>
        <p:spPr>
          <a:xfrm>
            <a:off x="8082077" y="1645920"/>
            <a:ext cx="3423818" cy="457200"/>
          </a:xfrm>
          <a:prstGeom prst="roundRect">
            <a:avLst>
              <a:gd name="adj" fmla="val 16000"/>
            </a:avLst>
          </a:prstGeom>
          <a:solidFill>
            <a:srgbClr val="6025F1"/>
          </a:solidFill>
          <a:ln w="15875">
            <a:solidFill>
              <a:srgbClr val="6025F1"/>
            </a:solidFill>
            <a:prstDash val="solid"/>
          </a:ln>
        </p:spPr>
        <p:txBody>
          <a:bodyPr/>
          <a:lstStyle/>
          <a:p>
            <a:endParaRPr lang="en-US"/>
          </a:p>
        </p:txBody>
      </p:sp>
      <p:sp>
        <p:nvSpPr>
          <p:cNvPr id="19" name="Shape 16"/>
          <p:cNvSpPr/>
          <p:nvPr/>
        </p:nvSpPr>
        <p:spPr>
          <a:xfrm>
            <a:off x="8082077" y="1874520"/>
            <a:ext cx="3423818" cy="228600"/>
          </a:xfrm>
          <a:prstGeom prst="rect">
            <a:avLst/>
          </a:prstGeom>
          <a:solidFill>
            <a:srgbClr val="6025F1"/>
          </a:solidFill>
          <a:ln w="15875">
            <a:solidFill>
              <a:srgbClr val="6025F1"/>
            </a:solidFill>
            <a:prstDash val="solid"/>
          </a:ln>
        </p:spPr>
        <p:txBody>
          <a:bodyPr/>
          <a:lstStyle/>
          <a:p>
            <a:endParaRPr lang="en-US"/>
          </a:p>
        </p:txBody>
      </p:sp>
      <p:sp>
        <p:nvSpPr>
          <p:cNvPr id="20" name="Text 17"/>
          <p:cNvSpPr txBox="1"/>
          <p:nvPr/>
        </p:nvSpPr>
        <p:spPr>
          <a:xfrm>
            <a:off x="8264957" y="1645920"/>
            <a:ext cx="305805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Designed, not built</a:t>
            </a:r>
            <a:endParaRPr lang="en-US" sz="1500" dirty="0"/>
          </a:p>
        </p:txBody>
      </p:sp>
      <p:sp>
        <p:nvSpPr>
          <p:cNvPr id="21" name="Text 18"/>
          <p:cNvSpPr txBox="1"/>
          <p:nvPr/>
        </p:nvSpPr>
        <p:spPr>
          <a:xfrm>
            <a:off x="8283245" y="2231136"/>
            <a:ext cx="3021482" cy="3621024"/>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Desktop adapter</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Per-tenant overrides</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Drift reports</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Capability catalogue</a:t>
            </a:r>
            <a:endParaRPr lang="en-US" sz="1800" dirty="0"/>
          </a:p>
          <a:p>
            <a:pPr marL="342900" indent="-342900">
              <a:spcAft>
                <a:spcPts val="400"/>
              </a:spcAft>
              <a:buSzPct val="100000"/>
              <a:buChar char="•"/>
            </a:pPr>
            <a:r>
              <a:rPr lang="en-US" sz="1800" dirty="0">
                <a:solidFill>
                  <a:srgbClr val="0B1F3F"/>
                </a:solidFill>
                <a:latin typeface="Calibri" pitchFamily="34" charset="0"/>
                <a:ea typeface="Calibri" pitchFamily="34" charset="-122"/>
                <a:cs typeface="Calibri" pitchFamily="34" charset="-120"/>
              </a:rPr>
              <a:t>Queues and scaling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6025F1"/>
                </a:solidFill>
                <a:latin typeface="Calibri" pitchFamily="34" charset="0"/>
                <a:ea typeface="Calibri" pitchFamily="34" charset="-122"/>
                <a:cs typeface="Calibri" pitchFamily="34" charset="-120"/>
              </a:rPr>
              <a:t>PART 1 · PROBLEM AND APPROACH</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How I built it with AI</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1 · Problem and approach</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10817352" cy="3535680"/>
        </p:xfrm>
        <a:graphic>
          <a:graphicData uri="http://schemas.openxmlformats.org/drawingml/2006/table">
            <a:tbl>
              <a:tblPr/>
              <a:tblGrid>
                <a:gridCol w="6400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Who</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I read the brief myself, before any model.</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Me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OpenAI and Gemini each read it separately and wrote a requirements list: 29 and 32 items. They mostly agreed.</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OpenAI, Gemini</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Claude read the brief and checked both lists against it. It found 3 that both had missed.</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Claude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I added 1 that all three models missed.</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Me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We designed the framework of the solution first: the parts and the lines between them.</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Claude and me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We wrote the code against the requirements checklist.</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Claude and me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We built the test gate: 43 tests that must pass, including 7 that fail the build if the architecture rules are broken.</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Claude and me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600" b="1" dirty="0">
                          <a:solidFill>
                            <a:srgbClr val="0B1F3F"/>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OpenAI runs discovery inside the product. Claude, outside the product, reviewed the work before I submitted.</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600" dirty="0">
                          <a:solidFill>
                            <a:srgbClr val="0B1F3F"/>
                          </a:solidFill>
                          <a:latin typeface="Calibri" pitchFamily="34" charset="0"/>
                          <a:ea typeface="Calibri" pitchFamily="34" charset="-122"/>
                          <a:cs typeface="Calibri" pitchFamily="34" charset="-120"/>
                        </a:rPr>
                        <a:t>OpenAI, Claude</a:t>
                      </a:r>
                      <a:endParaRPr lang="en-US" sz="16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0163EC"/>
                </a:solidFill>
                <a:latin typeface="Calibri" pitchFamily="34" charset="0"/>
                <a:ea typeface="Calibri" pitchFamily="34" charset="-122"/>
                <a:cs typeface="Calibri" pitchFamily="34" charset="-120"/>
              </a:rPr>
              <a:t>PART 2 · DESIGNED PER REQUIREMENT</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Language and browser tool: designed per requirement</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2 · Designed per requirement</a:t>
            </a:r>
            <a:endParaRPr lang="en-US" sz="1000" dirty="0"/>
          </a:p>
        </p:txBody>
      </p:sp>
      <p:sp>
        <p:nvSpPr>
          <p:cNvPr id="7" name="Shape 4"/>
          <p:cNvSpPr/>
          <p:nvPr/>
        </p:nvSpPr>
        <p:spPr>
          <a:xfrm>
            <a:off x="685800" y="1554480"/>
            <a:ext cx="3749040" cy="4526280"/>
          </a:xfrm>
          <a:prstGeom prst="roundRect">
            <a:avLst>
              <a:gd name="adj" fmla="val 1951"/>
            </a:avLst>
          </a:prstGeom>
          <a:solidFill>
            <a:srgbClr val="FFFFFF"/>
          </a:solidFill>
          <a:ln w="15875">
            <a:solidFill>
              <a:srgbClr val="0163EC"/>
            </a:solidFill>
            <a:prstDash val="solid"/>
          </a:ln>
        </p:spPr>
        <p:txBody>
          <a:bodyPr/>
          <a:lstStyle/>
          <a:p>
            <a:endParaRPr lang="en-US"/>
          </a:p>
        </p:txBody>
      </p:sp>
      <p:sp>
        <p:nvSpPr>
          <p:cNvPr id="8" name="Shape 5"/>
          <p:cNvSpPr/>
          <p:nvPr/>
        </p:nvSpPr>
        <p:spPr>
          <a:xfrm>
            <a:off x="685800" y="1554480"/>
            <a:ext cx="3749040" cy="457200"/>
          </a:xfrm>
          <a:prstGeom prst="roundRect">
            <a:avLst>
              <a:gd name="adj" fmla="val 16000"/>
            </a:avLst>
          </a:prstGeom>
          <a:solidFill>
            <a:srgbClr val="0163EC"/>
          </a:solidFill>
          <a:ln w="15875">
            <a:solidFill>
              <a:srgbClr val="0163EC"/>
            </a:solidFill>
            <a:prstDash val="solid"/>
          </a:ln>
        </p:spPr>
        <p:txBody>
          <a:bodyPr/>
          <a:lstStyle/>
          <a:p>
            <a:endParaRPr lang="en-US"/>
          </a:p>
        </p:txBody>
      </p:sp>
      <p:sp>
        <p:nvSpPr>
          <p:cNvPr id="9" name="Shape 6"/>
          <p:cNvSpPr/>
          <p:nvPr/>
        </p:nvSpPr>
        <p:spPr>
          <a:xfrm>
            <a:off x="685800" y="1783080"/>
            <a:ext cx="3749040" cy="228600"/>
          </a:xfrm>
          <a:prstGeom prst="rect">
            <a:avLst/>
          </a:prstGeom>
          <a:solidFill>
            <a:srgbClr val="0163EC"/>
          </a:solidFill>
          <a:ln w="15875">
            <a:solidFill>
              <a:srgbClr val="0163EC"/>
            </a:solidFill>
            <a:prstDash val="solid"/>
          </a:ln>
        </p:spPr>
        <p:txBody>
          <a:bodyPr/>
          <a:lstStyle/>
          <a:p>
            <a:endParaRPr lang="en-US"/>
          </a:p>
        </p:txBody>
      </p:sp>
      <p:sp>
        <p:nvSpPr>
          <p:cNvPr id="10" name="Text 7"/>
          <p:cNvSpPr txBox="1"/>
          <p:nvPr/>
        </p:nvSpPr>
        <p:spPr>
          <a:xfrm>
            <a:off x="868680" y="1554480"/>
            <a:ext cx="33832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the brief requires</a:t>
            </a:r>
            <a:endParaRPr lang="en-US" sz="1500" dirty="0"/>
          </a:p>
        </p:txBody>
      </p:sp>
      <p:sp>
        <p:nvSpPr>
          <p:cNvPr id="11" name="Text 8"/>
          <p:cNvSpPr txBox="1"/>
          <p:nvPr/>
        </p:nvSpPr>
        <p:spPr>
          <a:xfrm>
            <a:off x="886968" y="2139696"/>
            <a:ext cx="3346704" cy="38496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0B1F3F"/>
                </a:solidFill>
                <a:latin typeface="Calibri" pitchFamily="34" charset="0"/>
                <a:ea typeface="Calibri" pitchFamily="34" charset="-122"/>
                <a:cs typeface="Calibri" pitchFamily="34" charset="-120"/>
              </a:rPr>
              <a:t>Really click, type, navigate and read a live screen (3.1)</a:t>
            </a:r>
            <a:endParaRPr lang="en-US" sz="1450" dirty="0"/>
          </a:p>
          <a:p>
            <a:pPr marL="342900" indent="-342900">
              <a:spcAft>
                <a:spcPts val="400"/>
              </a:spcAft>
              <a:buSzPct val="100000"/>
              <a:buChar char="•"/>
            </a:pPr>
            <a:r>
              <a:rPr lang="en-US" sz="1450" dirty="0">
                <a:solidFill>
                  <a:srgbClr val="0B1F3F"/>
                </a:solidFill>
                <a:latin typeface="Calibri" pitchFamily="34" charset="0"/>
                <a:ea typeface="Calibri" pitchFamily="34" charset="-122"/>
                <a:cs typeface="Calibri" pitchFamily="34" charset="-120"/>
              </a:rPr>
              <a:t>Lean toward an approach that still works with no clean DOM (3.1)</a:t>
            </a:r>
            <a:endParaRPr lang="en-US" sz="1450" dirty="0"/>
          </a:p>
          <a:p>
            <a:pPr marL="342900" indent="-342900">
              <a:spcAft>
                <a:spcPts val="400"/>
              </a:spcAft>
              <a:buSzPct val="100000"/>
              <a:buChar char="•"/>
            </a:pPr>
            <a:r>
              <a:rPr lang="en-US" sz="1450" dirty="0">
                <a:solidFill>
                  <a:srgbClr val="0B1F3F"/>
                </a:solidFill>
                <a:latin typeface="Calibri" pitchFamily="34" charset="0"/>
                <a:ea typeface="Calibri" pitchFamily="34" charset="-122"/>
                <a:cs typeface="Calibri" pitchFamily="34" charset="-120"/>
              </a:rPr>
              <a:t>Legacy screens: framesets, nested tables, no test IDs (1)</a:t>
            </a:r>
            <a:endParaRPr lang="en-US" sz="1450" dirty="0"/>
          </a:p>
          <a:p>
            <a:pPr marL="342900" indent="-342900">
              <a:spcAft>
                <a:spcPts val="400"/>
              </a:spcAft>
              <a:buSzPct val="100000"/>
              <a:buChar char="•"/>
            </a:pPr>
            <a:r>
              <a:rPr lang="en-US" sz="1450" dirty="0">
                <a:solidFill>
                  <a:srgbClr val="0B1F3F"/>
                </a:solidFill>
                <a:latin typeface="Calibri" pitchFamily="34" charset="0"/>
                <a:ea typeface="Calibri" pitchFamily="34" charset="-122"/>
                <a:cs typeface="Calibri" pitchFamily="34" charset="-120"/>
              </a:rPr>
              <a:t>Stable targeting on replay, with no AI deciding (3.3)</a:t>
            </a:r>
            <a:endParaRPr lang="en-US" sz="1450" dirty="0"/>
          </a:p>
          <a:p>
            <a:pPr marL="342900" indent="-342900">
              <a:spcAft>
                <a:spcPts val="400"/>
              </a:spcAft>
              <a:buSzPct val="100000"/>
              <a:buChar char="•"/>
            </a:pPr>
            <a:r>
              <a:rPr lang="en-US" sz="1450" dirty="0">
                <a:solidFill>
                  <a:srgbClr val="0B1F3F"/>
                </a:solidFill>
                <a:latin typeface="Calibri" pitchFamily="34" charset="0"/>
                <a:ea typeface="Calibri" pitchFamily="34" charset="-122"/>
                <a:cs typeface="Calibri" pitchFamily="34" charset="-120"/>
              </a:rPr>
              <a:t>Language and tool are my call, and I must defend them (4)</a:t>
            </a:r>
            <a:endParaRPr lang="en-US" sz="1450" dirty="0"/>
          </a:p>
        </p:txBody>
      </p:sp>
      <p:sp>
        <p:nvSpPr>
          <p:cNvPr id="12" name="Text 9"/>
          <p:cNvSpPr txBox="1"/>
          <p:nvPr/>
        </p:nvSpPr>
        <p:spPr>
          <a:xfrm>
            <a:off x="4709160" y="1554480"/>
            <a:ext cx="6796735" cy="566928"/>
          </a:xfrm>
          <a:prstGeom prst="rect">
            <a:avLst/>
          </a:prstGeom>
          <a:noFill/>
          <a:ln/>
        </p:spPr>
        <p:txBody>
          <a:bodyPr wrap="square" lIns="0" tIns="0" rIns="0" bIns="0" rtlCol="0" anchor="ctr"/>
          <a:lstStyle/>
          <a:p>
            <a:pPr marL="0" indent="0">
              <a:buNone/>
            </a:pPr>
            <a:r>
              <a:rPr lang="en-US" sz="1350" b="1" dirty="0">
                <a:solidFill>
                  <a:srgbClr val="0B1F3F"/>
                </a:solidFill>
                <a:latin typeface="Calibri" pitchFamily="34" charset="0"/>
                <a:ea typeface="Calibri" pitchFamily="34" charset="-122"/>
                <a:cs typeface="Calibri" pitchFamily="34" charset="-120"/>
              </a:rPr>
              <a:t>1. The tool: Playwright. </a:t>
            </a:r>
            <a:r>
              <a:rPr lang="en-US" sz="1350" dirty="0">
                <a:solidFill>
                  <a:srgbClr val="0B1F3F"/>
                </a:solidFill>
                <a:latin typeface="Calibri" pitchFamily="34" charset="0"/>
                <a:ea typeface="Calibri" pitchFamily="34" charset="-122"/>
                <a:cs typeface="Calibri" pitchFamily="34" charset="-120"/>
              </a:rPr>
              <a:t>Frames are built in, it waits until a control is ready, and it finds a control by role, name or label.</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09160" y="2148840"/>
          <a:ext cx="6796735" cy="1391920"/>
        </p:xfrm>
        <a:graphic>
          <a:graphicData uri="http://schemas.openxmlformats.org/drawingml/2006/table">
            <a:tbl>
              <a:tblPr/>
              <a:tblGrid>
                <a:gridCol w="13716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727655">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Frames and waiting</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For this job</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0B1F3F"/>
                          </a:solidFill>
                          <a:latin typeface="Calibri" pitchFamily="34" charset="0"/>
                          <a:ea typeface="Calibri" pitchFamily="34" charset="-122"/>
                          <a:cs typeface="Calibri" pitchFamily="34" charset="-120"/>
                        </a:rPr>
                        <a:t>Playwright</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Built in; waits for the control</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Best fit</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0B1F3F"/>
                          </a:solidFill>
                          <a:latin typeface="Calibri" pitchFamily="34" charset="0"/>
                          <a:ea typeface="Calibri" pitchFamily="34" charset="-122"/>
                          <a:cs typeface="Calibri" pitchFamily="34" charset="-120"/>
                        </a:rPr>
                        <a:t>Selenium</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Switch frames and write waits by hand</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Works, with more code</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0B1F3F"/>
                          </a:solidFill>
                          <a:latin typeface="Calibri" pitchFamily="34" charset="0"/>
                          <a:ea typeface="Calibri" pitchFamily="34" charset="-122"/>
                          <a:cs typeface="Calibri" pitchFamily="34" charset="-120"/>
                        </a:rPr>
                        <a:t>Puppeteer</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Partly built in</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Close cousin, Chrome first</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0B1F3F"/>
                          </a:solidFill>
                          <a:latin typeface="Calibri" pitchFamily="34" charset="0"/>
                          <a:ea typeface="Calibri" pitchFamily="34" charset="-122"/>
                          <a:cs typeface="Calibri" pitchFamily="34" charset="-120"/>
                        </a:rPr>
                        <a:t>Cypress</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Weak on iframes</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Made for testing your own app</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Text 10"/>
          <p:cNvSpPr txBox="1"/>
          <p:nvPr/>
        </p:nvSpPr>
        <p:spPr>
          <a:xfrm>
            <a:off x="4709160" y="4069080"/>
            <a:ext cx="6796735" cy="868680"/>
          </a:xfrm>
          <a:prstGeom prst="rect">
            <a:avLst/>
          </a:prstGeom>
          <a:noFill/>
          <a:ln/>
        </p:spPr>
        <p:txBody>
          <a:bodyPr wrap="square" lIns="0" tIns="0" rIns="0" bIns="0" rtlCol="0" anchor="ctr"/>
          <a:lstStyle/>
          <a:p>
            <a:pPr marL="0" indent="0">
              <a:buNone/>
            </a:pPr>
            <a:r>
              <a:rPr lang="en-US" sz="1350" b="1" dirty="0">
                <a:solidFill>
                  <a:srgbClr val="0B1F3F"/>
                </a:solidFill>
                <a:latin typeface="Calibri" pitchFamily="34" charset="0"/>
                <a:ea typeface="Calibri" pitchFamily="34" charset="-122"/>
                <a:cs typeface="Calibri" pitchFamily="34" charset="-120"/>
              </a:rPr>
              <a:t>2. The language: TypeScript. </a:t>
            </a:r>
            <a:r>
              <a:rPr lang="en-US" sz="1350" dirty="0">
                <a:solidFill>
                  <a:srgbClr val="0B1F3F"/>
                </a:solidFill>
                <a:latin typeface="Calibri" pitchFamily="34" charset="0"/>
                <a:ea typeface="Calibri" pitchFamily="34" charset="-122"/>
                <a:cs typeface="Calibri" pitchFamily="34" charset="-120"/>
              </a:rPr>
              <a:t>Playwright is a Node library with first-class TypeScript types. I describe a step once, and that one description checks my code, checks every saved file, and tells the AI what format to answer in. The compiler catches mistakes before anything touches a bank screen.</a:t>
            </a:r>
            <a:endParaRPr lang="en-US" sz="13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709160" y="4983480"/>
          <a:ext cx="6796735" cy="1115060"/>
        </p:xfrm>
        <a:graphic>
          <a:graphicData uri="http://schemas.openxmlformats.org/drawingml/2006/table">
            <a:tbl>
              <a:tblPr/>
              <a:tblGrid>
                <a:gridCol w="1371600">
                  <a:extLst>
                    <a:ext uri="{9D8B030D-6E8A-4147-A177-3AD203B41FA5}">
                      <a16:colId xmlns:a16="http://schemas.microsoft.com/office/drawing/2014/main" val="20000"/>
                    </a:ext>
                  </a:extLst>
                </a:gridCol>
                <a:gridCol w="5425135">
                  <a:extLst>
                    <a:ext uri="{9D8B030D-6E8A-4147-A177-3AD203B41FA5}">
                      <a16:colId xmlns:a16="http://schemas.microsoft.com/office/drawing/2014/main" val="20001"/>
                    </a:ext>
                  </a:extLst>
                </a:gridCol>
              </a:tblGrid>
              <a:tr h="0">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Language</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Python</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Close second. Official binding, same API. Type checks need mypy or pyright in CI; not part of the build.</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Java</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Works. The class, the rules and the AI format are written apart.</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Go</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150" dirty="0">
                          <a:solidFill>
                            <a:srgbClr val="0B1F3F"/>
                          </a:solidFill>
                          <a:latin typeface="Calibri" pitchFamily="34" charset="0"/>
                          <a:ea typeface="Calibri" pitchFamily="34" charset="-122"/>
                          <a:cs typeface="Calibri" pitchFamily="34" charset="-120"/>
                        </a:rPr>
                        <a:t>Weak fit. No official Playwright.</a:t>
                      </a:r>
                      <a:endParaRPr lang="en-US" sz="11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0163EC"/>
                </a:solidFill>
                <a:latin typeface="Calibri" pitchFamily="34" charset="0"/>
                <a:ea typeface="Calibri" pitchFamily="34" charset="-122"/>
                <a:cs typeface="Calibri" pitchFamily="34" charset="-120"/>
              </a:rPr>
              <a:t>PART 2 · DESIGNED PER REQUIREMENT</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Architecture: designed per requirement</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2 · Designed per requirement</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817352" cy="3464560"/>
        </p:xfrm>
        <a:graphic>
          <a:graphicData uri="http://schemas.openxmlformats.org/drawingml/2006/table">
            <a:tbl>
              <a:tblPr/>
              <a:tblGrid>
                <a:gridCol w="32004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679192">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The brief asks for</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What I designed</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Where in the code</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B1F3F"/>
                          </a:solidFill>
                          <a:latin typeface="Calibri" pitchFamily="34" charset="0"/>
                          <a:ea typeface="Calibri" pitchFamily="34" charset="-122"/>
                          <a:cs typeface="Calibri" pitchFamily="34" charset="-120"/>
                        </a:rPr>
                        <a:t>“Pause, cede control, and resume on the same session”, and know who is in control (3.6). “Simpler is fine if justified” (4).</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One process. Every part shares one live browser session. The gate checks who holds control and then acts, back to back in the same program, so nothing can slip in between. To scale, run many copies.</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cli.ts wires the parts. core/contracts.ts holds the four interfaces.</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B1F3F"/>
                          </a:solidFill>
                          <a:latin typeface="Calibri" pitchFamily="34" charset="0"/>
                          <a:ea typeface="Calibri" pitchFamily="34" charset="-122"/>
                          <a:cs typeface="Calibri" pitchFamily="34" charset="-120"/>
                        </a:rPr>
                        <a:t>“Replay without invoking the LLM” (3.3). “Clear boundaries” (7).</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One folder, one job. The replay folder has no AI code in it. Only surfaces/ knows Playwright. Only safety/ acts on the browser.</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tests/replay-boundary.test.ts fails the build if replay ever imports an AI client.</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B1F3F"/>
                          </a:solidFill>
                          <a:latin typeface="Calibri" pitchFamily="34" charset="0"/>
                          <a:ea typeface="Calibri" pitchFamily="34" charset="-122"/>
                          <a:cs typeface="Calibri" pitchFamily="34" charset="-120"/>
                        </a:rPr>
                        <a:t>An LLM-driven observe, decide, act loop with stopping rules: max steps, timeout, dead end (3.1).</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OpenAI sits behind one function. Its answer is already a valid step, not free text. It sees the visible text, the control list, and a screenshot. It stops on max steps, a time limit, or a repeating screen.</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discovery/openai-model.ts decide(), discovery/discovery-runner.ts run()</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0B1F3F"/>
                          </a:solidFill>
                          <a:latin typeface="Calibri" pitchFamily="34" charset="0"/>
                          <a:ea typeface="Calibri" pitchFamily="34" charset="-122"/>
                          <a:cs typeface="Calibri" pitchFamily="34" charset="-120"/>
                        </a:rPr>
                        <a:t>“The only reliable surface is what a human operator sees” (1). Never persist raw sensitive data (3.4).</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Local OCR reads the balance that is drawn as a picture. Reads by OCR; clicks by role and name, not yet by pixels. Replay needs no outside service, and account data stays on the machine.</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00" dirty="0">
                          <a:solidFill>
                            <a:srgbClr val="0B1F3F"/>
                          </a:solidFill>
                          <a:latin typeface="Calibri" pitchFamily="34" charset="0"/>
                          <a:ea typeface="Calibri" pitchFamily="34" charset="-122"/>
                          <a:cs typeface="Calibri" pitchFamily="34" charset="-120"/>
                        </a:rPr>
                        <a:t>surfaces/playwright-adapter.ts extract(), recognizeVisualText()</a:t>
                      </a:r>
                      <a:endParaRPr lang="en-US" sz="14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0163EC"/>
                </a:solidFill>
                <a:latin typeface="Calibri" pitchFamily="34" charset="0"/>
                <a:ea typeface="Calibri" pitchFamily="34" charset="-122"/>
                <a:cs typeface="Calibri" pitchFamily="34" charset="-120"/>
              </a:rPr>
              <a:t>PART 2 · DESIGNED PER REQUIREMENT</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The capability file, results, safety and handoff</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2 · Designed per requirement</a:t>
            </a:r>
            <a:endParaRPr lang="en-US" sz="1000" dirty="0"/>
          </a:p>
        </p:txBody>
      </p:sp>
      <p:sp>
        <p:nvSpPr>
          <p:cNvPr id="7" name="Shape 4"/>
          <p:cNvSpPr/>
          <p:nvPr/>
        </p:nvSpPr>
        <p:spPr>
          <a:xfrm>
            <a:off x="685800" y="1508760"/>
            <a:ext cx="5272888" cy="2240280"/>
          </a:xfrm>
          <a:prstGeom prst="roundRect">
            <a:avLst>
              <a:gd name="adj" fmla="val 3265"/>
            </a:avLst>
          </a:prstGeom>
          <a:solidFill>
            <a:srgbClr val="FFFFFF"/>
          </a:solidFill>
          <a:ln w="15875">
            <a:solidFill>
              <a:srgbClr val="189267"/>
            </a:solidFill>
            <a:prstDash val="solid"/>
          </a:ln>
        </p:spPr>
        <p:txBody>
          <a:bodyPr/>
          <a:lstStyle/>
          <a:p>
            <a:endParaRPr lang="en-US"/>
          </a:p>
        </p:txBody>
      </p:sp>
      <p:sp>
        <p:nvSpPr>
          <p:cNvPr id="8" name="Shape 5"/>
          <p:cNvSpPr/>
          <p:nvPr/>
        </p:nvSpPr>
        <p:spPr>
          <a:xfrm>
            <a:off x="685800" y="1508760"/>
            <a:ext cx="5272888" cy="457200"/>
          </a:xfrm>
          <a:prstGeom prst="roundRect">
            <a:avLst>
              <a:gd name="adj" fmla="val 16000"/>
            </a:avLst>
          </a:prstGeom>
          <a:solidFill>
            <a:srgbClr val="189267"/>
          </a:solidFill>
          <a:ln w="15875">
            <a:solidFill>
              <a:srgbClr val="189267"/>
            </a:solidFill>
            <a:prstDash val="solid"/>
          </a:ln>
        </p:spPr>
        <p:txBody>
          <a:bodyPr/>
          <a:lstStyle/>
          <a:p>
            <a:endParaRPr lang="en-US"/>
          </a:p>
        </p:txBody>
      </p:sp>
      <p:sp>
        <p:nvSpPr>
          <p:cNvPr id="9" name="Shape 6"/>
          <p:cNvSpPr/>
          <p:nvPr/>
        </p:nvSpPr>
        <p:spPr>
          <a:xfrm>
            <a:off x="685800" y="1737360"/>
            <a:ext cx="5272888" cy="228600"/>
          </a:xfrm>
          <a:prstGeom prst="rect">
            <a:avLst/>
          </a:prstGeom>
          <a:solidFill>
            <a:srgbClr val="189267"/>
          </a:solidFill>
          <a:ln w="15875">
            <a:solidFill>
              <a:srgbClr val="189267"/>
            </a:solidFill>
            <a:prstDash val="solid"/>
          </a:ln>
        </p:spPr>
        <p:txBody>
          <a:bodyPr/>
          <a:lstStyle/>
          <a:p>
            <a:endParaRPr lang="en-US"/>
          </a:p>
        </p:txBody>
      </p:sp>
      <p:sp>
        <p:nvSpPr>
          <p:cNvPr id="10" name="Text 7"/>
          <p:cNvSpPr txBox="1"/>
          <p:nvPr/>
        </p:nvSpPr>
        <p:spPr>
          <a:xfrm>
            <a:off x="868680" y="150876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Capability file (brief 3.2)</a:t>
            </a:r>
            <a:endParaRPr lang="en-US" sz="1500" dirty="0"/>
          </a:p>
        </p:txBody>
      </p:sp>
      <p:sp>
        <p:nvSpPr>
          <p:cNvPr id="11" name="Text 8"/>
          <p:cNvSpPr txBox="1"/>
          <p:nvPr/>
        </p:nvSpPr>
        <p:spPr>
          <a:xfrm>
            <a:off x="886968" y="2093976"/>
            <a:ext cx="4870552" cy="1563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Typed inputs and outputs, ordered steps, a success check</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How each control is found, with the reason it should hold</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JSON, one file per version, reviewed like code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Secrets saved as {{password}}, never the real value</a:t>
            </a:r>
            <a:endParaRPr lang="en-US" sz="1500" dirty="0"/>
          </a:p>
        </p:txBody>
      </p:sp>
      <p:sp>
        <p:nvSpPr>
          <p:cNvPr id="12" name="Shape 9"/>
          <p:cNvSpPr/>
          <p:nvPr/>
        </p:nvSpPr>
        <p:spPr>
          <a:xfrm>
            <a:off x="6233008" y="1508760"/>
            <a:ext cx="5272888" cy="2240280"/>
          </a:xfrm>
          <a:prstGeom prst="roundRect">
            <a:avLst>
              <a:gd name="adj" fmla="val 3265"/>
            </a:avLst>
          </a:prstGeom>
          <a:solidFill>
            <a:srgbClr val="FFFFFF"/>
          </a:solidFill>
          <a:ln w="15875">
            <a:solidFill>
              <a:srgbClr val="0163EC"/>
            </a:solidFill>
            <a:prstDash val="solid"/>
          </a:ln>
        </p:spPr>
        <p:txBody>
          <a:bodyPr/>
          <a:lstStyle/>
          <a:p>
            <a:endParaRPr lang="en-US"/>
          </a:p>
        </p:txBody>
      </p:sp>
      <p:sp>
        <p:nvSpPr>
          <p:cNvPr id="13" name="Shape 10"/>
          <p:cNvSpPr/>
          <p:nvPr/>
        </p:nvSpPr>
        <p:spPr>
          <a:xfrm>
            <a:off x="6233008" y="1508760"/>
            <a:ext cx="5272888" cy="457200"/>
          </a:xfrm>
          <a:prstGeom prst="roundRect">
            <a:avLst>
              <a:gd name="adj" fmla="val 16000"/>
            </a:avLst>
          </a:prstGeom>
          <a:solidFill>
            <a:srgbClr val="0163EC"/>
          </a:solidFill>
          <a:ln w="15875">
            <a:solidFill>
              <a:srgbClr val="0163EC"/>
            </a:solidFill>
            <a:prstDash val="solid"/>
          </a:ln>
        </p:spPr>
        <p:txBody>
          <a:bodyPr/>
          <a:lstStyle/>
          <a:p>
            <a:endParaRPr lang="en-US"/>
          </a:p>
        </p:txBody>
      </p:sp>
      <p:sp>
        <p:nvSpPr>
          <p:cNvPr id="14" name="Shape 11"/>
          <p:cNvSpPr/>
          <p:nvPr/>
        </p:nvSpPr>
        <p:spPr>
          <a:xfrm>
            <a:off x="6233008" y="1737360"/>
            <a:ext cx="5272888" cy="228600"/>
          </a:xfrm>
          <a:prstGeom prst="rect">
            <a:avLst/>
          </a:prstGeom>
          <a:solidFill>
            <a:srgbClr val="0163EC"/>
          </a:solidFill>
          <a:ln w="15875">
            <a:solidFill>
              <a:srgbClr val="0163EC"/>
            </a:solidFill>
            <a:prstDash val="solid"/>
          </a:ln>
        </p:spPr>
        <p:txBody>
          <a:bodyPr/>
          <a:lstStyle/>
          <a:p>
            <a:endParaRPr lang="en-US"/>
          </a:p>
        </p:txBody>
      </p:sp>
      <p:sp>
        <p:nvSpPr>
          <p:cNvPr id="15" name="Text 12"/>
          <p:cNvSpPr txBox="1"/>
          <p:nvPr/>
        </p:nvSpPr>
        <p:spPr>
          <a:xfrm>
            <a:off x="6415888" y="150876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Three kinds of result (brief 3.3)</a:t>
            </a:r>
            <a:endParaRPr lang="en-US" sz="1500" dirty="0"/>
          </a:p>
        </p:txBody>
      </p:sp>
      <p:sp>
        <p:nvSpPr>
          <p:cNvPr id="16" name="Text 13"/>
          <p:cNvSpPr txBox="1"/>
          <p:nvPr/>
        </p:nvSpPr>
        <p:spPr>
          <a:xfrm>
            <a:off x="6434176" y="2093976"/>
            <a:ext cx="4870552" cy="1563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Business outcome: “account not found” is an answer</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Recoverable: close a known notice, at most twice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Blocked: stop, name the step, save evidence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Written in the file: a new condition is a data change</a:t>
            </a:r>
            <a:endParaRPr lang="en-US" sz="1500" dirty="0"/>
          </a:p>
        </p:txBody>
      </p:sp>
      <p:sp>
        <p:nvSpPr>
          <p:cNvPr id="17" name="Shape 14"/>
          <p:cNvSpPr/>
          <p:nvPr/>
        </p:nvSpPr>
        <p:spPr>
          <a:xfrm>
            <a:off x="685800" y="3931920"/>
            <a:ext cx="5272888" cy="2240280"/>
          </a:xfrm>
          <a:prstGeom prst="roundRect">
            <a:avLst>
              <a:gd name="adj" fmla="val 3265"/>
            </a:avLst>
          </a:prstGeom>
          <a:solidFill>
            <a:srgbClr val="FFFFFF"/>
          </a:solidFill>
          <a:ln w="15875">
            <a:solidFill>
              <a:srgbClr val="F26A12"/>
            </a:solidFill>
            <a:prstDash val="solid"/>
          </a:ln>
        </p:spPr>
        <p:txBody>
          <a:bodyPr/>
          <a:lstStyle/>
          <a:p>
            <a:endParaRPr lang="en-US"/>
          </a:p>
        </p:txBody>
      </p:sp>
      <p:sp>
        <p:nvSpPr>
          <p:cNvPr id="18" name="Shape 15"/>
          <p:cNvSpPr/>
          <p:nvPr/>
        </p:nvSpPr>
        <p:spPr>
          <a:xfrm>
            <a:off x="685800" y="3931920"/>
            <a:ext cx="5272888" cy="457200"/>
          </a:xfrm>
          <a:prstGeom prst="roundRect">
            <a:avLst>
              <a:gd name="adj" fmla="val 16000"/>
            </a:avLst>
          </a:prstGeom>
          <a:solidFill>
            <a:srgbClr val="F26A12"/>
          </a:solidFill>
          <a:ln w="15875">
            <a:solidFill>
              <a:srgbClr val="F26A12"/>
            </a:solidFill>
            <a:prstDash val="solid"/>
          </a:ln>
        </p:spPr>
        <p:txBody>
          <a:bodyPr/>
          <a:lstStyle/>
          <a:p>
            <a:endParaRPr lang="en-US"/>
          </a:p>
        </p:txBody>
      </p:sp>
      <p:sp>
        <p:nvSpPr>
          <p:cNvPr id="19" name="Shape 16"/>
          <p:cNvSpPr/>
          <p:nvPr/>
        </p:nvSpPr>
        <p:spPr>
          <a:xfrm>
            <a:off x="685800" y="4160520"/>
            <a:ext cx="5272888" cy="228600"/>
          </a:xfrm>
          <a:prstGeom prst="rect">
            <a:avLst/>
          </a:prstGeom>
          <a:solidFill>
            <a:srgbClr val="F26A12"/>
          </a:solidFill>
          <a:ln w="15875">
            <a:solidFill>
              <a:srgbClr val="F26A12"/>
            </a:solidFill>
            <a:prstDash val="solid"/>
          </a:ln>
        </p:spPr>
        <p:txBody>
          <a:bodyPr/>
          <a:lstStyle/>
          <a:p>
            <a:endParaRPr lang="en-US"/>
          </a:p>
        </p:txBody>
      </p:sp>
      <p:sp>
        <p:nvSpPr>
          <p:cNvPr id="20" name="Text 17"/>
          <p:cNvSpPr txBox="1"/>
          <p:nvPr/>
        </p:nvSpPr>
        <p:spPr>
          <a:xfrm>
            <a:off x="868680" y="393192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safety gate (brief 3.4)</a:t>
            </a:r>
            <a:endParaRPr lang="en-US" sz="1500" dirty="0"/>
          </a:p>
        </p:txBody>
      </p:sp>
      <p:sp>
        <p:nvSpPr>
          <p:cNvPr id="21" name="Text 18"/>
          <p:cNvSpPr txBox="1"/>
          <p:nvPr/>
        </p:nvSpPr>
        <p:spPr>
          <a:xfrm>
            <a:off x="886968" y="4517136"/>
            <a:ext cx="4870552" cy="1563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Every action passes actuator.execute() first</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It checks who holds control, then policy.json, then acts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policy.json: allowed hosts, routes, action types, risky button names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Risky actions are blocked, not flagged</a:t>
            </a:r>
            <a:endParaRPr lang="en-US" sz="1500" dirty="0"/>
          </a:p>
        </p:txBody>
      </p:sp>
      <p:sp>
        <p:nvSpPr>
          <p:cNvPr id="22" name="Shape 19"/>
          <p:cNvSpPr/>
          <p:nvPr/>
        </p:nvSpPr>
        <p:spPr>
          <a:xfrm>
            <a:off x="6233008" y="3931920"/>
            <a:ext cx="5272888" cy="2240280"/>
          </a:xfrm>
          <a:prstGeom prst="roundRect">
            <a:avLst>
              <a:gd name="adj" fmla="val 3265"/>
            </a:avLst>
          </a:prstGeom>
          <a:solidFill>
            <a:srgbClr val="FFFFFF"/>
          </a:solidFill>
          <a:ln w="15875">
            <a:solidFill>
              <a:srgbClr val="D4077E"/>
            </a:solidFill>
            <a:prstDash val="solid"/>
          </a:ln>
        </p:spPr>
        <p:txBody>
          <a:bodyPr/>
          <a:lstStyle/>
          <a:p>
            <a:endParaRPr lang="en-US"/>
          </a:p>
        </p:txBody>
      </p:sp>
      <p:sp>
        <p:nvSpPr>
          <p:cNvPr id="23" name="Shape 20"/>
          <p:cNvSpPr/>
          <p:nvPr/>
        </p:nvSpPr>
        <p:spPr>
          <a:xfrm>
            <a:off x="6233008" y="3931920"/>
            <a:ext cx="5272888" cy="457200"/>
          </a:xfrm>
          <a:prstGeom prst="roundRect">
            <a:avLst>
              <a:gd name="adj" fmla="val 16000"/>
            </a:avLst>
          </a:prstGeom>
          <a:solidFill>
            <a:srgbClr val="D4077E"/>
          </a:solidFill>
          <a:ln w="15875">
            <a:solidFill>
              <a:srgbClr val="D4077E"/>
            </a:solidFill>
            <a:prstDash val="solid"/>
          </a:ln>
        </p:spPr>
        <p:txBody>
          <a:bodyPr/>
          <a:lstStyle/>
          <a:p>
            <a:endParaRPr lang="en-US"/>
          </a:p>
        </p:txBody>
      </p:sp>
      <p:sp>
        <p:nvSpPr>
          <p:cNvPr id="24" name="Shape 21"/>
          <p:cNvSpPr/>
          <p:nvPr/>
        </p:nvSpPr>
        <p:spPr>
          <a:xfrm>
            <a:off x="6233008" y="4160520"/>
            <a:ext cx="5272888" cy="228600"/>
          </a:xfrm>
          <a:prstGeom prst="rect">
            <a:avLst/>
          </a:prstGeom>
          <a:solidFill>
            <a:srgbClr val="D4077E"/>
          </a:solidFill>
          <a:ln w="15875">
            <a:solidFill>
              <a:srgbClr val="D4077E"/>
            </a:solidFill>
            <a:prstDash val="solid"/>
          </a:ln>
        </p:spPr>
        <p:txBody>
          <a:bodyPr/>
          <a:lstStyle/>
          <a:p>
            <a:endParaRPr lang="en-US"/>
          </a:p>
        </p:txBody>
      </p:sp>
      <p:sp>
        <p:nvSpPr>
          <p:cNvPr id="25" name="Text 22"/>
          <p:cNvSpPr txBox="1"/>
          <p:nvPr/>
        </p:nvSpPr>
        <p:spPr>
          <a:xfrm>
            <a:off x="6415888" y="3931920"/>
            <a:ext cx="4907128"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Human handoff (brief 3.6)</a:t>
            </a:r>
            <a:endParaRPr lang="en-US" sz="1500" dirty="0"/>
          </a:p>
        </p:txBody>
      </p:sp>
      <p:sp>
        <p:nvSpPr>
          <p:cNvPr id="26" name="Text 23"/>
          <p:cNvSpPr txBox="1"/>
          <p:nvPr/>
        </p:nvSpPr>
        <p:spPr>
          <a:xfrm>
            <a:off x="6434176" y="4517136"/>
            <a:ext cx="4870552" cy="1563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Replay pauses and sends a request: step, reason, evidence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The person works in the same live browser session</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Rote checks for itself that the block is gone, then resumes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One owner at a time, with a timeline (session-lease.ts)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F26A12"/>
                </a:solidFill>
                <a:latin typeface="Calibri" pitchFamily="34" charset="0"/>
                <a:ea typeface="Calibri" pitchFamily="34" charset="-122"/>
                <a:cs typeface="Calibri" pitchFamily="34" charset="-120"/>
              </a:rPr>
              <a:t>PART 4 · WHAT IS WEAK</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What is weak, and the fix for each</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4 · What is weak</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463040"/>
          <a:ext cx="10817352" cy="3970020"/>
        </p:xfrm>
        <a:graphic>
          <a:graphicData uri="http://schemas.openxmlformats.org/drawingml/2006/table">
            <a:tbl>
              <a:tblPr/>
              <a:tblGrid>
                <a:gridCol w="5394960">
                  <a:extLst>
                    <a:ext uri="{9D8B030D-6E8A-4147-A177-3AD203B41FA5}">
                      <a16:colId xmlns:a16="http://schemas.microsoft.com/office/drawing/2014/main" val="20000"/>
                    </a:ext>
                  </a:extLst>
                </a:gridCol>
                <a:gridCol w="5422392">
                  <a:extLst>
                    <a:ext uri="{9D8B030D-6E8A-4147-A177-3AD203B41FA5}">
                      <a16:colId xmlns:a16="http://schemas.microsoft.com/office/drawing/2014/main" val="20001"/>
                    </a:ext>
                  </a:extLst>
                </a:gridCol>
              </a:tblGrid>
              <a:tr h="0">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tc>
                  <a:txBody>
                    <a:bodyPr/>
                    <a:lstStyle/>
                    <a:p>
                      <a:pPr marL="0" indent="0" algn="l">
                        <a:buNone/>
                      </a:pPr>
                      <a:r>
                        <a:rPr lang="en-US" sz="1200" b="1" dirty="0">
                          <a:solidFill>
                            <a:srgbClr val="031C5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EAF1FE"/>
                    </a:solidFill>
                  </a:tcPr>
                </a:tc>
                <a:extLst>
                  <a:ext uri="{0D108BD9-81ED-4DB2-BD59-A6C34878D82A}">
                    <a16:rowId xmlns:a16="http://schemas.microsoft.com/office/drawing/2014/main" val="10000"/>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Nearby text is saved but never used to find a control. Three of six steps are found by a CSS pattern alone.</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Use nearby text inside locate(). One function changes.</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No saved file has a per-step checkpoint. Known outcomes are checked only at the end.</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Add a checkpoint per step. Check known outcomes after every step.</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The report says no fixed waits. There is a 350 ms wait after each click.</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Wait for the frame to finish loading instead.</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Resume runs the blocked step again. Fine for a read. A double action for a write.</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Give each write a unique key. Check the state before and after.</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OCR on money has no confidence check. A wrong digit still says success.</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Set a confidence floor, read twice, block if the reads differ.</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Discovery sends the password to the AI inside the goal text.</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The AI writes {{password}}. The gate fills in the real value.</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Only navigate actions are checked against the host list.</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Check the page address after every click too.</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The handoff timeline writes one fixed sentence, not the person’s real clicks.</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Record page click and input events while the person holds control.</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Discovery runs with no session lease, so handoff is replay-only. The brief names “stuck during discovery” as a trigger.</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tc>
                  <a:txBody>
                    <a:bodyPr/>
                    <a:lstStyle/>
                    <a:p>
                      <a:pPr marL="0" indent="0">
                        <a:buNone/>
                      </a:pPr>
                      <a:r>
                        <a:rPr lang="en-US" sz="1450" dirty="0">
                          <a:solidFill>
                            <a:srgbClr val="0B1F3F"/>
                          </a:solidFill>
                          <a:latin typeface="Calibri" pitchFamily="34" charset="0"/>
                          <a:ea typeface="Calibri" pitchFamily="34" charset="-122"/>
                          <a:cs typeface="Calibri" pitchFamily="34" charset="-120"/>
                        </a:rPr>
                        <a:t>Give the discovery runner the same lease and coordinator that replay uses.</a:t>
                      </a:r>
                      <a:endParaRPr lang="en-US" sz="1450" dirty="0">
                        <a:latin typeface="Calibri" charset="0"/>
                        <a:ea typeface="Calibri" charset="0"/>
                        <a:cs typeface="Calibri" charset="0"/>
                      </a:endParaRPr>
                    </a:p>
                  </a:txBody>
                  <a:tcPr marL="76200" marR="76200" marT="50800" marB="50800">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9E45D00-71D0-4C81-8B97-E416B0E85343}"/>
              </a:ext>
            </a:extLst>
          </p:cNvPr>
          <p:cNvSpPr txBox="1"/>
          <p:nvPr/>
        </p:nvSpPr>
        <p:spPr>
          <a:xfrm>
            <a:off x="685800" y="274320"/>
            <a:ext cx="8229600" cy="274320"/>
          </a:xfrm>
          <a:prstGeom prst="rect">
            <a:avLst/>
          </a:prstGeom>
          <a:noFill/>
          <a:ln/>
        </p:spPr>
        <p:txBody>
          <a:bodyPr wrap="square" lIns="0" tIns="0" rIns="0" bIns="0" rtlCol="0" anchor="ctr"/>
          <a:lstStyle/>
          <a:p>
            <a:pPr marL="0" indent="0">
              <a:buNone/>
            </a:pPr>
            <a:r>
              <a:rPr lang="en-US" sz="1100" b="1" kern="0" spc="200" dirty="0">
                <a:solidFill>
                  <a:srgbClr val="189267"/>
                </a:solidFill>
                <a:latin typeface="Calibri" pitchFamily="34" charset="0"/>
                <a:ea typeface="Calibri" pitchFamily="34" charset="-122"/>
                <a:cs typeface="Calibri" pitchFamily="34" charset="-120"/>
              </a:rPr>
              <a:t>PART 5 · SCALE</a:t>
            </a:r>
            <a:endParaRPr lang="en-US" sz="1100" dirty="0"/>
          </a:p>
        </p:txBody>
      </p:sp>
      <p:sp>
        <p:nvSpPr>
          <p:cNvPr id="5" name="Text 1">
            <a:extLst>
              <a:ext uri="{FF2B5EF4-FFF2-40B4-BE49-F238E27FC236}">
                <a16:creationId xmlns:a16="http://schemas.microsoft.com/office/drawing/2014/main" id="{5C1ABCFE-5EAC-F13A-AEC1-8DFAB82475F9}"/>
              </a:ext>
            </a:extLst>
          </p:cNvPr>
          <p:cNvSpPr txBox="1"/>
          <p:nvPr/>
        </p:nvSpPr>
        <p:spPr>
          <a:xfrm>
            <a:off x="561975" y="41148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One bank, 20 apps: how it runs</a:t>
            </a:r>
            <a:endParaRPr lang="en-US" sz="3000" dirty="0"/>
          </a:p>
        </p:txBody>
      </p:sp>
      <p:pic>
        <p:nvPicPr>
          <p:cNvPr id="9" name="Picture 8">
            <a:extLst>
              <a:ext uri="{FF2B5EF4-FFF2-40B4-BE49-F238E27FC236}">
                <a16:creationId xmlns:a16="http://schemas.microsoft.com/office/drawing/2014/main" id="{126505BB-60DD-C3B9-1CB2-0022C0E6794B}"/>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1325911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189267"/>
                </a:solidFill>
                <a:latin typeface="Calibri" pitchFamily="34" charset="0"/>
                <a:ea typeface="Calibri" pitchFamily="34" charset="-122"/>
                <a:cs typeface="Calibri" pitchFamily="34" charset="-120"/>
              </a:rPr>
              <a:t>PART 5 · SCALE</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How I would scale it: four stages, in this order</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5 · Scale</a:t>
            </a:r>
            <a:endParaRPr lang="en-US" sz="1000" dirty="0"/>
          </a:p>
        </p:txBody>
      </p:sp>
      <p:sp>
        <p:nvSpPr>
          <p:cNvPr id="7" name="Shape 4"/>
          <p:cNvSpPr/>
          <p:nvPr/>
        </p:nvSpPr>
        <p:spPr>
          <a:xfrm>
            <a:off x="685800" y="1508760"/>
            <a:ext cx="2499284" cy="3063240"/>
          </a:xfrm>
          <a:prstGeom prst="roundRect">
            <a:avLst>
              <a:gd name="adj" fmla="val 2927"/>
            </a:avLst>
          </a:prstGeom>
          <a:solidFill>
            <a:srgbClr val="FFFFFF"/>
          </a:solidFill>
          <a:ln w="15875">
            <a:solidFill>
              <a:srgbClr val="F26A12"/>
            </a:solidFill>
            <a:prstDash val="solid"/>
          </a:ln>
        </p:spPr>
        <p:txBody>
          <a:bodyPr/>
          <a:lstStyle/>
          <a:p>
            <a:endParaRPr lang="en-US"/>
          </a:p>
        </p:txBody>
      </p:sp>
      <p:sp>
        <p:nvSpPr>
          <p:cNvPr id="8" name="Shape 5"/>
          <p:cNvSpPr/>
          <p:nvPr/>
        </p:nvSpPr>
        <p:spPr>
          <a:xfrm>
            <a:off x="685800" y="1508760"/>
            <a:ext cx="2499284" cy="457200"/>
          </a:xfrm>
          <a:prstGeom prst="roundRect">
            <a:avLst>
              <a:gd name="adj" fmla="val 16000"/>
            </a:avLst>
          </a:prstGeom>
          <a:solidFill>
            <a:srgbClr val="F26A12"/>
          </a:solidFill>
          <a:ln w="15875">
            <a:solidFill>
              <a:srgbClr val="F26A12"/>
            </a:solidFill>
            <a:prstDash val="solid"/>
          </a:ln>
        </p:spPr>
        <p:txBody>
          <a:bodyPr/>
          <a:lstStyle/>
          <a:p>
            <a:endParaRPr lang="en-US"/>
          </a:p>
        </p:txBody>
      </p:sp>
      <p:sp>
        <p:nvSpPr>
          <p:cNvPr id="9" name="Shape 6"/>
          <p:cNvSpPr/>
          <p:nvPr/>
        </p:nvSpPr>
        <p:spPr>
          <a:xfrm>
            <a:off x="685800" y="1737360"/>
            <a:ext cx="2499284" cy="228600"/>
          </a:xfrm>
          <a:prstGeom prst="rect">
            <a:avLst/>
          </a:prstGeom>
          <a:solidFill>
            <a:srgbClr val="F26A12"/>
          </a:solidFill>
          <a:ln w="15875">
            <a:solidFill>
              <a:srgbClr val="F26A12"/>
            </a:solidFill>
            <a:prstDash val="solid"/>
          </a:ln>
        </p:spPr>
        <p:txBody>
          <a:bodyPr/>
          <a:lstStyle/>
          <a:p>
            <a:endParaRPr lang="en-US"/>
          </a:p>
        </p:txBody>
      </p:sp>
      <p:sp>
        <p:nvSpPr>
          <p:cNvPr id="10" name="Text 7"/>
          <p:cNvSpPr txBox="1"/>
          <p:nvPr/>
        </p:nvSpPr>
        <p:spPr>
          <a:xfrm>
            <a:off x="868680"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Safe for one tenant</a:t>
            </a:r>
            <a:endParaRPr lang="en-US" sz="1400" dirty="0"/>
          </a:p>
        </p:txBody>
      </p:sp>
      <p:sp>
        <p:nvSpPr>
          <p:cNvPr id="11" name="Text 8"/>
          <p:cNvSpPr txBox="1"/>
          <p:nvPr/>
        </p:nvSpPr>
        <p:spPr>
          <a:xfrm>
            <a:off x="886968" y="2093976"/>
            <a:ext cx="2096948" cy="238658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Draft, then approved</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Secrets from a vault</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Safe writes: unique key, before and after check</a:t>
            </a:r>
            <a:endParaRPr lang="en-US" sz="1500" dirty="0"/>
          </a:p>
        </p:txBody>
      </p:sp>
      <p:sp>
        <p:nvSpPr>
          <p:cNvPr id="12" name="Shape 9"/>
          <p:cNvSpPr/>
          <p:nvPr/>
        </p:nvSpPr>
        <p:spPr>
          <a:xfrm>
            <a:off x="3459404" y="1508760"/>
            <a:ext cx="2499284" cy="3063240"/>
          </a:xfrm>
          <a:prstGeom prst="roundRect">
            <a:avLst>
              <a:gd name="adj" fmla="val 2927"/>
            </a:avLst>
          </a:prstGeom>
          <a:solidFill>
            <a:srgbClr val="FFFFFF"/>
          </a:solidFill>
          <a:ln w="15875">
            <a:solidFill>
              <a:srgbClr val="0163EC"/>
            </a:solidFill>
            <a:prstDash val="solid"/>
          </a:ln>
        </p:spPr>
        <p:txBody>
          <a:bodyPr/>
          <a:lstStyle/>
          <a:p>
            <a:endParaRPr lang="en-US"/>
          </a:p>
        </p:txBody>
      </p:sp>
      <p:sp>
        <p:nvSpPr>
          <p:cNvPr id="13" name="Shape 10"/>
          <p:cNvSpPr/>
          <p:nvPr/>
        </p:nvSpPr>
        <p:spPr>
          <a:xfrm>
            <a:off x="3459404" y="1508760"/>
            <a:ext cx="2499284" cy="457200"/>
          </a:xfrm>
          <a:prstGeom prst="roundRect">
            <a:avLst>
              <a:gd name="adj" fmla="val 16000"/>
            </a:avLst>
          </a:prstGeom>
          <a:solidFill>
            <a:srgbClr val="0163EC"/>
          </a:solidFill>
          <a:ln w="15875">
            <a:solidFill>
              <a:srgbClr val="0163EC"/>
            </a:solidFill>
            <a:prstDash val="solid"/>
          </a:ln>
        </p:spPr>
        <p:txBody>
          <a:bodyPr/>
          <a:lstStyle/>
          <a:p>
            <a:endParaRPr lang="en-US"/>
          </a:p>
        </p:txBody>
      </p:sp>
      <p:sp>
        <p:nvSpPr>
          <p:cNvPr id="14" name="Shape 11"/>
          <p:cNvSpPr/>
          <p:nvPr/>
        </p:nvSpPr>
        <p:spPr>
          <a:xfrm>
            <a:off x="3459404" y="1737360"/>
            <a:ext cx="2499284" cy="228600"/>
          </a:xfrm>
          <a:prstGeom prst="rect">
            <a:avLst/>
          </a:prstGeom>
          <a:solidFill>
            <a:srgbClr val="0163EC"/>
          </a:solidFill>
          <a:ln w="15875">
            <a:solidFill>
              <a:srgbClr val="0163EC"/>
            </a:solidFill>
            <a:prstDash val="solid"/>
          </a:ln>
        </p:spPr>
        <p:txBody>
          <a:bodyPr/>
          <a:lstStyle/>
          <a:p>
            <a:endParaRPr lang="en-US"/>
          </a:p>
        </p:txBody>
      </p:sp>
      <p:sp>
        <p:nvSpPr>
          <p:cNvPr id="15" name="Text 12"/>
          <p:cNvSpPr txBox="1"/>
          <p:nvPr/>
        </p:nvSpPr>
        <p:spPr>
          <a:xfrm>
            <a:off x="3642284"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Many runs</a:t>
            </a:r>
            <a:endParaRPr lang="en-US" sz="1400" dirty="0"/>
          </a:p>
        </p:txBody>
      </p:sp>
      <p:sp>
        <p:nvSpPr>
          <p:cNvPr id="16" name="Text 13"/>
          <p:cNvSpPr txBox="1"/>
          <p:nvPr/>
        </p:nvSpPr>
        <p:spPr>
          <a:xfrm>
            <a:off x="3660572" y="2093976"/>
            <a:ext cx="2096948" cy="238658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Replay keeps no state, so add workers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 queue in front, a browser pool behind</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 cap per tenant</a:t>
            </a:r>
            <a:endParaRPr lang="en-US" sz="1500" dirty="0"/>
          </a:p>
        </p:txBody>
      </p:sp>
      <p:sp>
        <p:nvSpPr>
          <p:cNvPr id="17" name="Shape 14"/>
          <p:cNvSpPr/>
          <p:nvPr/>
        </p:nvSpPr>
        <p:spPr>
          <a:xfrm>
            <a:off x="6233008" y="1508760"/>
            <a:ext cx="2499284" cy="3063240"/>
          </a:xfrm>
          <a:prstGeom prst="roundRect">
            <a:avLst>
              <a:gd name="adj" fmla="val 2927"/>
            </a:avLst>
          </a:prstGeom>
          <a:solidFill>
            <a:srgbClr val="FFFFFF"/>
          </a:solidFill>
          <a:ln w="15875">
            <a:solidFill>
              <a:srgbClr val="189267"/>
            </a:solidFill>
            <a:prstDash val="solid"/>
          </a:ln>
        </p:spPr>
        <p:txBody>
          <a:bodyPr/>
          <a:lstStyle/>
          <a:p>
            <a:endParaRPr lang="en-US"/>
          </a:p>
        </p:txBody>
      </p:sp>
      <p:sp>
        <p:nvSpPr>
          <p:cNvPr id="18" name="Shape 15"/>
          <p:cNvSpPr/>
          <p:nvPr/>
        </p:nvSpPr>
        <p:spPr>
          <a:xfrm>
            <a:off x="6233008" y="1508760"/>
            <a:ext cx="2499284" cy="457200"/>
          </a:xfrm>
          <a:prstGeom prst="roundRect">
            <a:avLst>
              <a:gd name="adj" fmla="val 16000"/>
            </a:avLst>
          </a:prstGeom>
          <a:solidFill>
            <a:srgbClr val="189267"/>
          </a:solidFill>
          <a:ln w="15875">
            <a:solidFill>
              <a:srgbClr val="189267"/>
            </a:solidFill>
            <a:prstDash val="solid"/>
          </a:ln>
        </p:spPr>
        <p:txBody>
          <a:bodyPr/>
          <a:lstStyle/>
          <a:p>
            <a:endParaRPr lang="en-US"/>
          </a:p>
        </p:txBody>
      </p:sp>
      <p:sp>
        <p:nvSpPr>
          <p:cNvPr id="19" name="Shape 16"/>
          <p:cNvSpPr/>
          <p:nvPr/>
        </p:nvSpPr>
        <p:spPr>
          <a:xfrm>
            <a:off x="6233008" y="1737360"/>
            <a:ext cx="2499284" cy="228600"/>
          </a:xfrm>
          <a:prstGeom prst="rect">
            <a:avLst/>
          </a:prstGeom>
          <a:solidFill>
            <a:srgbClr val="189267"/>
          </a:solidFill>
          <a:ln w="15875">
            <a:solidFill>
              <a:srgbClr val="189267"/>
            </a:solidFill>
            <a:prstDash val="solid"/>
          </a:ln>
        </p:spPr>
        <p:txBody>
          <a:bodyPr/>
          <a:lstStyle/>
          <a:p>
            <a:endParaRPr lang="en-US"/>
          </a:p>
        </p:txBody>
      </p:sp>
      <p:sp>
        <p:nvSpPr>
          <p:cNvPr id="20" name="Text 17"/>
          <p:cNvSpPr txBox="1"/>
          <p:nvPr/>
        </p:nvSpPr>
        <p:spPr>
          <a:xfrm>
            <a:off x="6415888"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Many tenants</a:t>
            </a:r>
            <a:endParaRPr lang="en-US" sz="1400" dirty="0"/>
          </a:p>
        </p:txBody>
      </p:sp>
      <p:sp>
        <p:nvSpPr>
          <p:cNvPr id="21" name="Text 18"/>
          <p:cNvSpPr txBox="1"/>
          <p:nvPr/>
        </p:nvSpPr>
        <p:spPr>
          <a:xfrm>
            <a:off x="6434176" y="2093976"/>
            <a:ext cx="2096948" cy="238658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One base file per product version</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Small reviewed overrides per tenant</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 test replay before a version takes real work</a:t>
            </a:r>
            <a:endParaRPr lang="en-US" sz="1500" dirty="0"/>
          </a:p>
        </p:txBody>
      </p:sp>
      <p:sp>
        <p:nvSpPr>
          <p:cNvPr id="22" name="Shape 19"/>
          <p:cNvSpPr/>
          <p:nvPr/>
        </p:nvSpPr>
        <p:spPr>
          <a:xfrm>
            <a:off x="9006611" y="1508760"/>
            <a:ext cx="2499284" cy="3063240"/>
          </a:xfrm>
          <a:prstGeom prst="roundRect">
            <a:avLst>
              <a:gd name="adj" fmla="val 2927"/>
            </a:avLst>
          </a:prstGeom>
          <a:solidFill>
            <a:srgbClr val="FFFFFF"/>
          </a:solidFill>
          <a:ln w="15875">
            <a:solidFill>
              <a:srgbClr val="0E9AAE"/>
            </a:solidFill>
            <a:prstDash val="solid"/>
          </a:ln>
        </p:spPr>
        <p:txBody>
          <a:bodyPr/>
          <a:lstStyle/>
          <a:p>
            <a:endParaRPr lang="en-US"/>
          </a:p>
        </p:txBody>
      </p:sp>
      <p:sp>
        <p:nvSpPr>
          <p:cNvPr id="23" name="Shape 20"/>
          <p:cNvSpPr/>
          <p:nvPr/>
        </p:nvSpPr>
        <p:spPr>
          <a:xfrm>
            <a:off x="9006611" y="1508760"/>
            <a:ext cx="2499284" cy="457200"/>
          </a:xfrm>
          <a:prstGeom prst="roundRect">
            <a:avLst>
              <a:gd name="adj" fmla="val 16000"/>
            </a:avLst>
          </a:prstGeom>
          <a:solidFill>
            <a:srgbClr val="0E9AAE"/>
          </a:solidFill>
          <a:ln w="15875">
            <a:solidFill>
              <a:srgbClr val="0E9AAE"/>
            </a:solidFill>
            <a:prstDash val="solid"/>
          </a:ln>
        </p:spPr>
        <p:txBody>
          <a:bodyPr/>
          <a:lstStyle/>
          <a:p>
            <a:endParaRPr lang="en-US"/>
          </a:p>
        </p:txBody>
      </p:sp>
      <p:sp>
        <p:nvSpPr>
          <p:cNvPr id="24" name="Shape 21"/>
          <p:cNvSpPr/>
          <p:nvPr/>
        </p:nvSpPr>
        <p:spPr>
          <a:xfrm>
            <a:off x="9006611" y="1737360"/>
            <a:ext cx="2499284" cy="228600"/>
          </a:xfrm>
          <a:prstGeom prst="rect">
            <a:avLst/>
          </a:prstGeom>
          <a:solidFill>
            <a:srgbClr val="0E9AAE"/>
          </a:solidFill>
          <a:ln w="15875">
            <a:solidFill>
              <a:srgbClr val="0E9AAE"/>
            </a:solidFill>
            <a:prstDash val="solid"/>
          </a:ln>
        </p:spPr>
        <p:txBody>
          <a:bodyPr/>
          <a:lstStyle/>
          <a:p>
            <a:endParaRPr lang="en-US"/>
          </a:p>
        </p:txBody>
      </p:sp>
      <p:sp>
        <p:nvSpPr>
          <p:cNvPr id="25" name="Text 22"/>
          <p:cNvSpPr txBox="1"/>
          <p:nvPr/>
        </p:nvSpPr>
        <p:spPr>
          <a:xfrm>
            <a:off x="9189491"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Many kinds of screen</a:t>
            </a:r>
            <a:endParaRPr lang="en-US" sz="1400" dirty="0"/>
          </a:p>
        </p:txBody>
      </p:sp>
      <p:sp>
        <p:nvSpPr>
          <p:cNvPr id="26" name="Text 23"/>
          <p:cNvSpPr txBox="1"/>
          <p:nvPr/>
        </p:nvSpPr>
        <p:spPr>
          <a:xfrm>
            <a:off x="9207779" y="2093976"/>
            <a:ext cx="2096948" cy="238658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 desktop adapter</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It reads the same capability files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Roles and names, not browser terms</a:t>
            </a:r>
            <a:endParaRPr lang="en-US" sz="1500" dirty="0"/>
          </a:p>
        </p:txBody>
      </p:sp>
      <p:sp>
        <p:nvSpPr>
          <p:cNvPr id="27" name="Shape 24"/>
          <p:cNvSpPr/>
          <p:nvPr/>
        </p:nvSpPr>
        <p:spPr>
          <a:xfrm>
            <a:off x="685800" y="4846320"/>
            <a:ext cx="10820095" cy="1188720"/>
          </a:xfrm>
          <a:prstGeom prst="roundRect">
            <a:avLst>
              <a:gd name="adj" fmla="val 6154"/>
            </a:avLst>
          </a:prstGeom>
          <a:solidFill>
            <a:srgbClr val="EAF1FE"/>
          </a:solidFill>
          <a:ln w="9525">
            <a:solidFill>
              <a:srgbClr val="D5DDEA"/>
            </a:solidFill>
            <a:prstDash val="solid"/>
          </a:ln>
        </p:spPr>
        <p:txBody>
          <a:bodyPr/>
          <a:lstStyle/>
          <a:p>
            <a:endParaRPr lang="en-US"/>
          </a:p>
        </p:txBody>
      </p:sp>
      <p:sp>
        <p:nvSpPr>
          <p:cNvPr id="28" name="Text 25"/>
          <p:cNvSpPr txBox="1"/>
          <p:nvPr/>
        </p:nvSpPr>
        <p:spPr>
          <a:xfrm>
            <a:off x="960120" y="4937760"/>
            <a:ext cx="10271455" cy="1005840"/>
          </a:xfrm>
          <a:prstGeom prst="rect">
            <a:avLst/>
          </a:prstGeom>
          <a:noFill/>
          <a:ln/>
        </p:spPr>
        <p:txBody>
          <a:bodyPr wrap="square" lIns="0" tIns="0" rIns="0" bIns="0" rtlCol="0" anchor="ctr"/>
          <a:lstStyle/>
          <a:p>
            <a:pPr marL="0" indent="0">
              <a:buNone/>
            </a:pPr>
            <a:r>
              <a:rPr lang="en-US" sz="1450" b="1" dirty="0">
                <a:solidFill>
                  <a:srgbClr val="0B1F3F"/>
                </a:solidFill>
                <a:latin typeface="Calibri" pitchFamily="34" charset="0"/>
                <a:ea typeface="Calibri" pitchFamily="34" charset="-122"/>
                <a:cs typeface="Calibri" pitchFamily="34" charset="-120"/>
              </a:rPr>
              <a:t>What I would not build yet: </a:t>
            </a:r>
            <a:r>
              <a:rPr lang="en-US" sz="1450" dirty="0">
                <a:solidFill>
                  <a:srgbClr val="0B1F3F"/>
                </a:solidFill>
                <a:latin typeface="Calibri" pitchFamily="34" charset="0"/>
                <a:ea typeface="Calibri" pitchFamily="34" charset="-122"/>
                <a:cs typeface="Calibri" pitchFamily="34" charset="-120"/>
              </a:rPr>
              <a:t>many regions, a custom scheduler, or AI inside replay. At most one limited, approved AI retry for one failed control, never an open loop. Each adds moving parts before a number says we need it.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ctr"/>
          <a:lstStyle/>
          <a:p>
            <a:pPr marL="0" indent="0">
              <a:buNone/>
            </a:pPr>
            <a:r>
              <a:rPr lang="en-US" sz="1100" b="1" kern="0" spc="200" dirty="0">
                <a:solidFill>
                  <a:srgbClr val="0E9AAE"/>
                </a:solidFill>
                <a:latin typeface="Calibri" pitchFamily="34" charset="0"/>
                <a:ea typeface="Calibri" pitchFamily="34" charset="-122"/>
                <a:cs typeface="Calibri" pitchFamily="34" charset="-120"/>
              </a:rPr>
              <a:t>PART 6 · MEASURE</a:t>
            </a:r>
            <a:endParaRPr lang="en-US" sz="1100" dirty="0"/>
          </a:p>
        </p:txBody>
      </p:sp>
      <p:sp>
        <p:nvSpPr>
          <p:cNvPr id="3" name="Text 1"/>
          <p:cNvSpPr txBox="1"/>
          <p:nvPr/>
        </p:nvSpPr>
        <p:spPr>
          <a:xfrm>
            <a:off x="685800" y="685800"/>
            <a:ext cx="10820095" cy="640080"/>
          </a:xfrm>
          <a:prstGeom prst="rect">
            <a:avLst/>
          </a:prstGeom>
          <a:noFill/>
          <a:ln/>
        </p:spPr>
        <p:txBody>
          <a:bodyPr wrap="square" lIns="0" tIns="0" rIns="0" bIns="0" rtlCol="0" anchor="ctr"/>
          <a:lstStyle/>
          <a:p>
            <a:pPr marL="0" indent="0">
              <a:buNone/>
            </a:pPr>
            <a:r>
              <a:rPr lang="en-US" sz="3000" b="1" dirty="0">
                <a:solidFill>
                  <a:srgbClr val="031C5F"/>
                </a:solidFill>
                <a:latin typeface="Calibri" pitchFamily="34" charset="0"/>
                <a:ea typeface="Calibri" pitchFamily="34" charset="-122"/>
                <a:cs typeface="Calibri" pitchFamily="34" charset="-120"/>
              </a:rPr>
              <a:t>How I would measure it in production</a:t>
            </a:r>
            <a:endParaRPr lang="en-US" sz="3000" dirty="0"/>
          </a:p>
        </p:txBody>
      </p:sp>
      <p:sp>
        <p:nvSpPr>
          <p:cNvPr id="4" name="Text 2"/>
          <p:cNvSpPr txBox="1"/>
          <p:nvPr/>
        </p:nvSpPr>
        <p:spPr>
          <a:xfrm>
            <a:off x="685800" y="6355080"/>
            <a:ext cx="4572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Rote · take-home review</a:t>
            </a:r>
            <a:endParaRPr lang="en-US" sz="1000" dirty="0"/>
          </a:p>
        </p:txBody>
      </p:sp>
      <p:sp>
        <p:nvSpPr>
          <p:cNvPr id="5" name="Text 3"/>
          <p:cNvSpPr txBox="1"/>
          <p:nvPr/>
        </p:nvSpPr>
        <p:spPr>
          <a:xfrm>
            <a:off x="6933895" y="6355080"/>
            <a:ext cx="45720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Part 6 · Measure</a:t>
            </a:r>
            <a:endParaRPr lang="en-US" sz="1000" dirty="0"/>
          </a:p>
        </p:txBody>
      </p:sp>
      <p:sp>
        <p:nvSpPr>
          <p:cNvPr id="7" name="Shape 4"/>
          <p:cNvSpPr/>
          <p:nvPr/>
        </p:nvSpPr>
        <p:spPr>
          <a:xfrm>
            <a:off x="685800" y="1508760"/>
            <a:ext cx="2499284" cy="3200400"/>
          </a:xfrm>
          <a:prstGeom prst="roundRect">
            <a:avLst>
              <a:gd name="adj" fmla="val 2927"/>
            </a:avLst>
          </a:prstGeom>
          <a:solidFill>
            <a:srgbClr val="FFFFFF"/>
          </a:solidFill>
          <a:ln w="15875">
            <a:solidFill>
              <a:srgbClr val="0163EC"/>
            </a:solidFill>
            <a:prstDash val="solid"/>
          </a:ln>
        </p:spPr>
        <p:txBody>
          <a:bodyPr/>
          <a:lstStyle/>
          <a:p>
            <a:endParaRPr lang="en-US"/>
          </a:p>
        </p:txBody>
      </p:sp>
      <p:sp>
        <p:nvSpPr>
          <p:cNvPr id="8" name="Shape 5"/>
          <p:cNvSpPr/>
          <p:nvPr/>
        </p:nvSpPr>
        <p:spPr>
          <a:xfrm>
            <a:off x="685800" y="1508760"/>
            <a:ext cx="2499284" cy="457200"/>
          </a:xfrm>
          <a:prstGeom prst="roundRect">
            <a:avLst>
              <a:gd name="adj" fmla="val 16000"/>
            </a:avLst>
          </a:prstGeom>
          <a:solidFill>
            <a:srgbClr val="0163EC"/>
          </a:solidFill>
          <a:ln w="15875">
            <a:solidFill>
              <a:srgbClr val="0163EC"/>
            </a:solidFill>
            <a:prstDash val="solid"/>
          </a:ln>
        </p:spPr>
        <p:txBody>
          <a:bodyPr/>
          <a:lstStyle/>
          <a:p>
            <a:endParaRPr lang="en-US"/>
          </a:p>
        </p:txBody>
      </p:sp>
      <p:sp>
        <p:nvSpPr>
          <p:cNvPr id="9" name="Shape 6"/>
          <p:cNvSpPr/>
          <p:nvPr/>
        </p:nvSpPr>
        <p:spPr>
          <a:xfrm>
            <a:off x="685800" y="1737360"/>
            <a:ext cx="2499284" cy="228600"/>
          </a:xfrm>
          <a:prstGeom prst="rect">
            <a:avLst/>
          </a:prstGeom>
          <a:solidFill>
            <a:srgbClr val="0163EC"/>
          </a:solidFill>
          <a:ln w="15875">
            <a:solidFill>
              <a:srgbClr val="0163EC"/>
            </a:solidFill>
            <a:prstDash val="solid"/>
          </a:ln>
        </p:spPr>
        <p:txBody>
          <a:bodyPr/>
          <a:lstStyle/>
          <a:p>
            <a:endParaRPr lang="en-US"/>
          </a:p>
        </p:txBody>
      </p:sp>
      <p:sp>
        <p:nvSpPr>
          <p:cNvPr id="10" name="Text 7"/>
          <p:cNvSpPr txBox="1"/>
          <p:nvPr/>
        </p:nvSpPr>
        <p:spPr>
          <a:xfrm>
            <a:off x="868680"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 it working?</a:t>
            </a:r>
            <a:endParaRPr lang="en-US" sz="1400" dirty="0"/>
          </a:p>
        </p:txBody>
      </p:sp>
      <p:sp>
        <p:nvSpPr>
          <p:cNvPr id="11" name="Text 8"/>
          <p:cNvSpPr txBox="1"/>
          <p:nvPr/>
        </p:nvSpPr>
        <p:spPr>
          <a:xfrm>
            <a:off x="886968" y="2093976"/>
            <a:ext cx="2096948" cy="252374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Success rate per capability, version, tenant</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The mix of success, business outcome, blocked</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Time per step</a:t>
            </a:r>
            <a:endParaRPr lang="en-US" sz="1500" dirty="0"/>
          </a:p>
        </p:txBody>
      </p:sp>
      <p:sp>
        <p:nvSpPr>
          <p:cNvPr id="12" name="Shape 9"/>
          <p:cNvSpPr/>
          <p:nvPr/>
        </p:nvSpPr>
        <p:spPr>
          <a:xfrm>
            <a:off x="3459404" y="1508760"/>
            <a:ext cx="2499284" cy="3200400"/>
          </a:xfrm>
          <a:prstGeom prst="roundRect">
            <a:avLst>
              <a:gd name="adj" fmla="val 2927"/>
            </a:avLst>
          </a:prstGeom>
          <a:solidFill>
            <a:srgbClr val="FFFFFF"/>
          </a:solidFill>
          <a:ln w="15875">
            <a:solidFill>
              <a:srgbClr val="189267"/>
            </a:solidFill>
            <a:prstDash val="solid"/>
          </a:ln>
        </p:spPr>
        <p:txBody>
          <a:bodyPr/>
          <a:lstStyle/>
          <a:p>
            <a:endParaRPr lang="en-US"/>
          </a:p>
        </p:txBody>
      </p:sp>
      <p:sp>
        <p:nvSpPr>
          <p:cNvPr id="13" name="Shape 10"/>
          <p:cNvSpPr/>
          <p:nvPr/>
        </p:nvSpPr>
        <p:spPr>
          <a:xfrm>
            <a:off x="3459404" y="1508760"/>
            <a:ext cx="2499284" cy="457200"/>
          </a:xfrm>
          <a:prstGeom prst="roundRect">
            <a:avLst>
              <a:gd name="adj" fmla="val 16000"/>
            </a:avLst>
          </a:prstGeom>
          <a:solidFill>
            <a:srgbClr val="189267"/>
          </a:solidFill>
          <a:ln w="15875">
            <a:solidFill>
              <a:srgbClr val="189267"/>
            </a:solidFill>
            <a:prstDash val="solid"/>
          </a:ln>
        </p:spPr>
        <p:txBody>
          <a:bodyPr/>
          <a:lstStyle/>
          <a:p>
            <a:endParaRPr lang="en-US"/>
          </a:p>
        </p:txBody>
      </p:sp>
      <p:sp>
        <p:nvSpPr>
          <p:cNvPr id="14" name="Shape 11"/>
          <p:cNvSpPr/>
          <p:nvPr/>
        </p:nvSpPr>
        <p:spPr>
          <a:xfrm>
            <a:off x="3459404" y="1737360"/>
            <a:ext cx="2499284" cy="228600"/>
          </a:xfrm>
          <a:prstGeom prst="rect">
            <a:avLst/>
          </a:prstGeom>
          <a:solidFill>
            <a:srgbClr val="189267"/>
          </a:solidFill>
          <a:ln w="15875">
            <a:solidFill>
              <a:srgbClr val="189267"/>
            </a:solidFill>
            <a:prstDash val="solid"/>
          </a:ln>
        </p:spPr>
        <p:txBody>
          <a:bodyPr/>
          <a:lstStyle/>
          <a:p>
            <a:endParaRPr lang="en-US"/>
          </a:p>
        </p:txBody>
      </p:sp>
      <p:sp>
        <p:nvSpPr>
          <p:cNvPr id="15" name="Text 12"/>
          <p:cNvSpPr txBox="1"/>
          <p:nvPr/>
        </p:nvSpPr>
        <p:spPr>
          <a:xfrm>
            <a:off x="3642284"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 it correct?</a:t>
            </a:r>
            <a:endParaRPr lang="en-US" sz="1400" dirty="0"/>
          </a:p>
        </p:txBody>
      </p:sp>
      <p:sp>
        <p:nvSpPr>
          <p:cNvPr id="16" name="Text 13"/>
          <p:cNvSpPr txBox="1"/>
          <p:nvPr/>
        </p:nvSpPr>
        <p:spPr>
          <a:xfrm>
            <a:off x="3660572" y="2093976"/>
            <a:ext cx="2096948" cy="252374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Test accounts with known answers, on a schedule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OCR confidence; do two reads agree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 person checks a small sample</a:t>
            </a:r>
            <a:endParaRPr lang="en-US" sz="1500" dirty="0"/>
          </a:p>
        </p:txBody>
      </p:sp>
      <p:sp>
        <p:nvSpPr>
          <p:cNvPr id="17" name="Shape 14"/>
          <p:cNvSpPr/>
          <p:nvPr/>
        </p:nvSpPr>
        <p:spPr>
          <a:xfrm>
            <a:off x="6233008" y="1508760"/>
            <a:ext cx="2499284" cy="3200400"/>
          </a:xfrm>
          <a:prstGeom prst="roundRect">
            <a:avLst>
              <a:gd name="adj" fmla="val 2927"/>
            </a:avLst>
          </a:prstGeom>
          <a:solidFill>
            <a:srgbClr val="FFFFFF"/>
          </a:solidFill>
          <a:ln w="15875">
            <a:solidFill>
              <a:srgbClr val="F26A12"/>
            </a:solidFill>
            <a:prstDash val="solid"/>
          </a:ln>
        </p:spPr>
        <p:txBody>
          <a:bodyPr/>
          <a:lstStyle/>
          <a:p>
            <a:endParaRPr lang="en-US"/>
          </a:p>
        </p:txBody>
      </p:sp>
      <p:sp>
        <p:nvSpPr>
          <p:cNvPr id="18" name="Shape 15"/>
          <p:cNvSpPr/>
          <p:nvPr/>
        </p:nvSpPr>
        <p:spPr>
          <a:xfrm>
            <a:off x="6233008" y="1508760"/>
            <a:ext cx="2499284" cy="457200"/>
          </a:xfrm>
          <a:prstGeom prst="roundRect">
            <a:avLst>
              <a:gd name="adj" fmla="val 16000"/>
            </a:avLst>
          </a:prstGeom>
          <a:solidFill>
            <a:srgbClr val="F26A12"/>
          </a:solidFill>
          <a:ln w="15875">
            <a:solidFill>
              <a:srgbClr val="F26A12"/>
            </a:solidFill>
            <a:prstDash val="solid"/>
          </a:ln>
        </p:spPr>
        <p:txBody>
          <a:bodyPr/>
          <a:lstStyle/>
          <a:p>
            <a:endParaRPr lang="en-US"/>
          </a:p>
        </p:txBody>
      </p:sp>
      <p:sp>
        <p:nvSpPr>
          <p:cNvPr id="19" name="Shape 16"/>
          <p:cNvSpPr/>
          <p:nvPr/>
        </p:nvSpPr>
        <p:spPr>
          <a:xfrm>
            <a:off x="6233008" y="1737360"/>
            <a:ext cx="2499284" cy="228600"/>
          </a:xfrm>
          <a:prstGeom prst="rect">
            <a:avLst/>
          </a:prstGeom>
          <a:solidFill>
            <a:srgbClr val="F26A12"/>
          </a:solidFill>
          <a:ln w="15875">
            <a:solidFill>
              <a:srgbClr val="F26A12"/>
            </a:solidFill>
            <a:prstDash val="solid"/>
          </a:ln>
        </p:spPr>
        <p:txBody>
          <a:bodyPr/>
          <a:lstStyle/>
          <a:p>
            <a:endParaRPr lang="en-US"/>
          </a:p>
        </p:txBody>
      </p:sp>
      <p:sp>
        <p:nvSpPr>
          <p:cNvPr id="20" name="Text 17"/>
          <p:cNvSpPr txBox="1"/>
          <p:nvPr/>
        </p:nvSpPr>
        <p:spPr>
          <a:xfrm>
            <a:off x="6415888"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 it safe?</a:t>
            </a:r>
            <a:endParaRPr lang="en-US" sz="1400" dirty="0"/>
          </a:p>
        </p:txBody>
      </p:sp>
      <p:sp>
        <p:nvSpPr>
          <p:cNvPr id="21" name="Text 18"/>
          <p:cNvSpPr txBox="1"/>
          <p:nvPr/>
        </p:nvSpPr>
        <p:spPr>
          <a:xfrm>
            <a:off x="6434176" y="2093976"/>
            <a:ext cx="2096948" cy="252374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Actions blocked by policy</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Attempts to leave allowed hosts</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How often a person is needed, and for how long</a:t>
            </a:r>
            <a:endParaRPr lang="en-US" sz="1500" dirty="0"/>
          </a:p>
        </p:txBody>
      </p:sp>
      <p:sp>
        <p:nvSpPr>
          <p:cNvPr id="22" name="Shape 19"/>
          <p:cNvSpPr/>
          <p:nvPr/>
        </p:nvSpPr>
        <p:spPr>
          <a:xfrm>
            <a:off x="9006611" y="1508760"/>
            <a:ext cx="2499284" cy="3200400"/>
          </a:xfrm>
          <a:prstGeom prst="roundRect">
            <a:avLst>
              <a:gd name="adj" fmla="val 2927"/>
            </a:avLst>
          </a:prstGeom>
          <a:solidFill>
            <a:srgbClr val="FFFFFF"/>
          </a:solidFill>
          <a:ln w="15875">
            <a:solidFill>
              <a:srgbClr val="6025F1"/>
            </a:solidFill>
            <a:prstDash val="solid"/>
          </a:ln>
        </p:spPr>
        <p:txBody>
          <a:bodyPr/>
          <a:lstStyle/>
          <a:p>
            <a:endParaRPr lang="en-US"/>
          </a:p>
        </p:txBody>
      </p:sp>
      <p:sp>
        <p:nvSpPr>
          <p:cNvPr id="23" name="Shape 20"/>
          <p:cNvSpPr/>
          <p:nvPr/>
        </p:nvSpPr>
        <p:spPr>
          <a:xfrm>
            <a:off x="9006611" y="1508760"/>
            <a:ext cx="2499284" cy="457200"/>
          </a:xfrm>
          <a:prstGeom prst="roundRect">
            <a:avLst>
              <a:gd name="adj" fmla="val 16000"/>
            </a:avLst>
          </a:prstGeom>
          <a:solidFill>
            <a:srgbClr val="6025F1"/>
          </a:solidFill>
          <a:ln w="15875">
            <a:solidFill>
              <a:srgbClr val="6025F1"/>
            </a:solidFill>
            <a:prstDash val="solid"/>
          </a:ln>
        </p:spPr>
        <p:txBody>
          <a:bodyPr/>
          <a:lstStyle/>
          <a:p>
            <a:endParaRPr lang="en-US"/>
          </a:p>
        </p:txBody>
      </p:sp>
      <p:sp>
        <p:nvSpPr>
          <p:cNvPr id="24" name="Shape 21"/>
          <p:cNvSpPr/>
          <p:nvPr/>
        </p:nvSpPr>
        <p:spPr>
          <a:xfrm>
            <a:off x="9006611" y="1737360"/>
            <a:ext cx="2499284" cy="228600"/>
          </a:xfrm>
          <a:prstGeom prst="rect">
            <a:avLst/>
          </a:prstGeom>
          <a:solidFill>
            <a:srgbClr val="6025F1"/>
          </a:solidFill>
          <a:ln w="15875">
            <a:solidFill>
              <a:srgbClr val="6025F1"/>
            </a:solidFill>
            <a:prstDash val="solid"/>
          </a:ln>
        </p:spPr>
        <p:txBody>
          <a:bodyPr/>
          <a:lstStyle/>
          <a:p>
            <a:endParaRPr lang="en-US"/>
          </a:p>
        </p:txBody>
      </p:sp>
      <p:sp>
        <p:nvSpPr>
          <p:cNvPr id="25" name="Text 22"/>
          <p:cNvSpPr txBox="1"/>
          <p:nvPr/>
        </p:nvSpPr>
        <p:spPr>
          <a:xfrm>
            <a:off x="9189491" y="1508760"/>
            <a:ext cx="21335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 it worth it?</a:t>
            </a:r>
            <a:endParaRPr lang="en-US" sz="1400" dirty="0"/>
          </a:p>
        </p:txBody>
      </p:sp>
      <p:sp>
        <p:nvSpPr>
          <p:cNvPr id="26" name="Text 23"/>
          <p:cNvSpPr txBox="1"/>
          <p:nvPr/>
        </p:nvSpPr>
        <p:spPr>
          <a:xfrm>
            <a:off x="9207779" y="2093976"/>
            <a:ext cx="2096948" cy="252374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Cost per task vs AI on every run</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Review edits per discovered file: 2 today (1 placeholder, 1 OCR scope)</a:t>
            </a:r>
            <a:endParaRPr lang="en-US" sz="1500" dirty="0"/>
          </a:p>
          <a:p>
            <a:pPr marL="342900" indent="-342900">
              <a:spcAft>
                <a:spcPts val="400"/>
              </a:spcAft>
              <a:buSzPct val="100000"/>
              <a:buChar char="•"/>
            </a:pPr>
            <a:r>
              <a:rPr lang="en-US" sz="1500" dirty="0">
                <a:solidFill>
                  <a:srgbClr val="0B1F3F"/>
                </a:solidFill>
                <a:latin typeface="Calibri" pitchFamily="34" charset="0"/>
                <a:ea typeface="Calibri" pitchFamily="34" charset="-122"/>
                <a:cs typeface="Calibri" pitchFamily="34" charset="-120"/>
              </a:rPr>
              <a:t>Tasks finished with no person</a:t>
            </a:r>
            <a:endParaRPr lang="en-US" sz="1500" dirty="0"/>
          </a:p>
        </p:txBody>
      </p:sp>
      <p:sp>
        <p:nvSpPr>
          <p:cNvPr id="27" name="Shape 24"/>
          <p:cNvSpPr/>
          <p:nvPr/>
        </p:nvSpPr>
        <p:spPr>
          <a:xfrm>
            <a:off x="685800" y="4983480"/>
            <a:ext cx="10820095" cy="1051560"/>
          </a:xfrm>
          <a:prstGeom prst="roundRect">
            <a:avLst>
              <a:gd name="adj" fmla="val 6957"/>
            </a:avLst>
          </a:prstGeom>
          <a:solidFill>
            <a:srgbClr val="EAF1FE"/>
          </a:solidFill>
          <a:ln w="9525">
            <a:solidFill>
              <a:srgbClr val="D5DDEA"/>
            </a:solidFill>
            <a:prstDash val="solid"/>
          </a:ln>
        </p:spPr>
        <p:txBody>
          <a:bodyPr/>
          <a:lstStyle/>
          <a:p>
            <a:endParaRPr lang="en-US"/>
          </a:p>
        </p:txBody>
      </p:sp>
      <p:sp>
        <p:nvSpPr>
          <p:cNvPr id="28" name="Text 25"/>
          <p:cNvSpPr txBox="1"/>
          <p:nvPr/>
        </p:nvSpPr>
        <p:spPr>
          <a:xfrm>
            <a:off x="960120" y="5029200"/>
            <a:ext cx="10271455" cy="960120"/>
          </a:xfrm>
          <a:prstGeom prst="rect">
            <a:avLst/>
          </a:prstGeom>
          <a:noFill/>
          <a:ln/>
        </p:spPr>
        <p:txBody>
          <a:bodyPr wrap="square" lIns="0" tIns="0" rIns="0" bIns="0" rtlCol="0" anchor="ctr"/>
          <a:lstStyle/>
          <a:p>
            <a:pPr marL="0" indent="0">
              <a:buNone/>
            </a:pPr>
            <a:r>
              <a:rPr lang="en-US" sz="1450" b="1" dirty="0">
                <a:solidFill>
                  <a:srgbClr val="0B1F3F"/>
                </a:solidFill>
                <a:latin typeface="Calibri" pitchFamily="34" charset="0"/>
                <a:ea typeface="Calibri" pitchFamily="34" charset="-122"/>
                <a:cs typeface="Calibri" pitchFamily="34" charset="-120"/>
              </a:rPr>
              <a:t>From a number to an action: </a:t>
            </a:r>
            <a:r>
              <a:rPr lang="en-US" sz="1450" dirty="0">
                <a:solidFill>
                  <a:srgbClr val="0B1F3F"/>
                </a:solidFill>
                <a:latin typeface="Calibri" pitchFamily="34" charset="0"/>
                <a:ea typeface="Calibri" pitchFamily="34" charset="-122"/>
                <a:cs typeface="Calibri" pitchFamily="34" charset="-120"/>
              </a:rPr>
              <a:t>an alert on one version → that version stops taking work → the saved evidence shows what changed → a reviewed fix ships as the next version. No AI guessing in the loop.</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1041</TotalTime>
  <Words>2694</Words>
  <Application>Microsoft Office PowerPoint</Application>
  <PresentationFormat>Widescreen</PresentationFormat>
  <Paragraphs>272</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Rote — take-home review</dc:title>
  <dc:subject>PptxGenJS Presentation</dc:subject>
  <dc:creator>PptxGenJS</dc:creator>
  <cp:lastModifiedBy>Toyin Bakare</cp:lastModifiedBy>
  <cp:revision>3</cp:revision>
  <dcterms:created xsi:type="dcterms:W3CDTF">2026-09-21T20:50:07Z</dcterms:created>
  <dcterms:modified xsi:type="dcterms:W3CDTF">2026-09-24T19:23:00Z</dcterms:modified>
</cp:coreProperties>
</file>